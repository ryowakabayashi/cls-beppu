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4" r:id="rId25"/>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本日のゴールは、CLS別府のPVMVを運営3名の共通言語として確定させること。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運営勧誘・スポンサー営業の冒頭で必ずこの言い方をそろえる。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集客は本編の告知から始まるのではなく、プレヒートイベントと出稽古から始まる。「名指しの巻き込み」は運営3名それぞれが誰に声をかけるかまで、この場で洗い出す。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A"/>
        </a:solidFill>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1E3E6B"/>
          </a:solidFill>
          <a:ln w="12700">
            <a:solidFill>
              <a:srgbClr val="333333"/>
            </a:solidFill>
            <a:prstDash val="solid"/>
          </a:ln>
        </p:spPr>
      </p:sp>
      <p:sp>
        <p:nvSpPr>
          <p:cNvPr id="3" name="Shape 1"/>
          <p:cNvSpPr/>
          <p:nvPr/>
        </p:nvSpPr>
        <p:spPr>
          <a:xfrm>
            <a:off x="10241280" y="3931920"/>
            <a:ext cx="3108960" cy="3108960"/>
          </a:xfrm>
          <a:prstGeom prst="ellipse">
            <a:avLst/>
          </a:prstGeom>
          <a:solidFill>
            <a:srgbClr val="1E3E6B"/>
          </a:solidFill>
          <a:ln w="12700">
            <a:solidFill>
              <a:srgbClr val="333333"/>
            </a:solidFill>
            <a:prstDash val="solid"/>
          </a:ln>
        </p:spPr>
      </p:sp>
      <p:sp>
        <p:nvSpPr>
          <p:cNvPr id="4" name="Shape 2"/>
          <p:cNvSpPr/>
          <p:nvPr/>
        </p:nvSpPr>
        <p:spPr>
          <a:xfrm>
            <a:off x="640080" y="777240"/>
            <a:ext cx="566928" cy="566928"/>
          </a:xfrm>
          <a:prstGeom prst="ellipse">
            <a:avLst/>
          </a:prstGeom>
          <a:solidFill>
            <a:srgbClr val="E2703A"/>
          </a:solidFill>
          <a:ln w="12700">
            <a:solidFill>
              <a:srgbClr val="E2703A"/>
            </a:solidFill>
            <a:prstDash val="solid"/>
          </a:ln>
        </p:spPr>
      </p:sp>
      <p:sp>
        <p:nvSpPr>
          <p:cNvPr id="5" name="Text 3"/>
          <p:cNvSpPr/>
          <p:nvPr/>
        </p:nvSpPr>
        <p:spPr>
          <a:xfrm>
            <a:off x="640080" y="77724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湯</a:t>
            </a:r>
            <a:endParaRPr lang="en-US" sz="1300" dirty="0"/>
          </a:p>
        </p:txBody>
      </p:sp>
      <p:sp>
        <p:nvSpPr>
          <p:cNvPr id="6" name="Text 4"/>
          <p:cNvSpPr/>
          <p:nvPr/>
        </p:nvSpPr>
        <p:spPr>
          <a:xfrm>
            <a:off x="1417320" y="777240"/>
            <a:ext cx="7315200" cy="566928"/>
          </a:xfrm>
          <a:prstGeom prst="rect">
            <a:avLst/>
          </a:prstGeom>
          <a:noFill/>
          <a:ln/>
        </p:spPr>
        <p:txBody>
          <a:bodyPr wrap="square" lIns="0" tIns="0" rIns="0" bIns="0" rtlCol="0" anchor="ctr"/>
          <a:lstStyle/>
          <a:p>
            <a:pPr indent="0" marL="0">
              <a:buNone/>
            </a:pPr>
            <a:r>
              <a:rPr lang="en-US" sz="1200" b="1" spc="200" kern="0" dirty="0">
                <a:solidFill>
                  <a:srgbClr val="E2703A"/>
                </a:solidFill>
                <a:latin typeface="Meiryo" pitchFamily="34" charset="0"/>
                <a:ea typeface="Meiryo" pitchFamily="34" charset="-122"/>
                <a:cs typeface="Meiryo" pitchFamily="34" charset="-120"/>
              </a:rPr>
              <a:t>COMMUNITY LEADERS SUMMIT BEPPU</a:t>
            </a:r>
            <a:endParaRPr lang="en-US" sz="1200" dirty="0"/>
          </a:p>
        </p:txBody>
      </p:sp>
      <p:sp>
        <p:nvSpPr>
          <p:cNvPr id="7" name="Text 5"/>
          <p:cNvSpPr/>
          <p:nvPr/>
        </p:nvSpPr>
        <p:spPr>
          <a:xfrm>
            <a:off x="640080" y="1828800"/>
            <a:ext cx="8595360" cy="2011680"/>
          </a:xfrm>
          <a:prstGeom prst="rect">
            <a:avLst/>
          </a:prstGeom>
          <a:noFill/>
          <a:ln/>
        </p:spPr>
        <p:txBody>
          <a:bodyPr wrap="square" lIns="0" tIns="0" rIns="0" bIns="0" rtlCol="0" anchor="t"/>
          <a:lstStyle/>
          <a:p>
            <a:pPr indent="0" marL="0">
              <a:lnSpc>
                <a:spcPts val="5200"/>
              </a:lnSpc>
              <a:buNone/>
            </a:pPr>
            <a:r>
              <a:rPr lang="en-US" sz="4200" b="1" dirty="0">
                <a:solidFill>
                  <a:srgbClr val="FFFFFF"/>
                </a:solidFill>
                <a:latin typeface="Meiryo" pitchFamily="34" charset="0"/>
                <a:ea typeface="Meiryo" pitchFamily="34" charset="-122"/>
                <a:cs typeface="Meiryo" pitchFamily="34" charset="-120"/>
              </a:rPr>
              <a:t>CLS別府 第2回</a:t>
            </a:r>
            <a:endParaRPr lang="en-US" sz="4200" dirty="0"/>
          </a:p>
          <a:p>
            <a:pPr indent="0" marL="0">
              <a:lnSpc>
                <a:spcPts val="5200"/>
              </a:lnSpc>
              <a:buNone/>
            </a:pPr>
            <a:r>
              <a:rPr lang="en-US" sz="4200" b="1" dirty="0">
                <a:solidFill>
                  <a:srgbClr val="FFFFFF"/>
                </a:solidFill>
                <a:latin typeface="Meiryo" pitchFamily="34" charset="0"/>
                <a:ea typeface="Meiryo" pitchFamily="34" charset="-122"/>
                <a:cs typeface="Meiryo" pitchFamily="34" charset="-120"/>
              </a:rPr>
              <a:t>戦略再構築ブリーフ</a:t>
            </a:r>
            <a:endParaRPr lang="en-US" sz="4200" dirty="0"/>
          </a:p>
        </p:txBody>
      </p:sp>
      <p:sp>
        <p:nvSpPr>
          <p:cNvPr id="8" name="Text 6"/>
          <p:cNvSpPr/>
          <p:nvPr/>
        </p:nvSpPr>
        <p:spPr>
          <a:xfrm>
            <a:off x="640080" y="3977640"/>
            <a:ext cx="8778240" cy="457200"/>
          </a:xfrm>
          <a:prstGeom prst="rect">
            <a:avLst/>
          </a:prstGeom>
          <a:noFill/>
          <a:ln/>
        </p:spPr>
        <p:txBody>
          <a:bodyPr wrap="square" lIns="0" tIns="0" rIns="0" bIns="0" rtlCol="0" anchor="ctr"/>
          <a:lstStyle/>
          <a:p>
            <a:pPr indent="0" marL="0">
              <a:buNone/>
            </a:pPr>
            <a:r>
              <a:rPr lang="en-US" sz="1500" dirty="0">
                <a:solidFill>
                  <a:srgbClr val="B9C7DA"/>
                </a:solidFill>
                <a:latin typeface="Meiryo" pitchFamily="34" charset="0"/>
                <a:ea typeface="Meiryo" pitchFamily="34" charset="-122"/>
                <a:cs typeface="Meiryo" pitchFamily="34" charset="-120"/>
              </a:rPr>
              <a:t>「規模の縮小」ではなく「濃度の極大化」へ　—　別府・旅館での合宿型開催という解</a:t>
            </a:r>
            <a:endParaRPr lang="en-US" sz="1500" dirty="0"/>
          </a:p>
        </p:txBody>
      </p:sp>
      <p:sp>
        <p:nvSpPr>
          <p:cNvPr id="9" name="Shape 7"/>
          <p:cNvSpPr/>
          <p:nvPr/>
        </p:nvSpPr>
        <p:spPr>
          <a:xfrm>
            <a:off x="640080" y="4800600"/>
            <a:ext cx="2926080" cy="0"/>
          </a:xfrm>
          <a:prstGeom prst="line">
            <a:avLst/>
          </a:prstGeom>
          <a:noFill/>
          <a:ln w="25400">
            <a:solidFill>
              <a:srgbClr val="E2703A"/>
            </a:solidFill>
            <a:prstDash val="solid"/>
          </a:ln>
        </p:spPr>
      </p:sp>
      <p:sp>
        <p:nvSpPr>
          <p:cNvPr id="10" name="Text 8"/>
          <p:cNvSpPr/>
          <p:nvPr/>
        </p:nvSpPr>
        <p:spPr>
          <a:xfrm>
            <a:off x="640080" y="5029200"/>
            <a:ext cx="8229600" cy="320040"/>
          </a:xfrm>
          <a:prstGeom prst="rect">
            <a:avLst/>
          </a:prstGeom>
          <a:noFill/>
          <a:ln/>
        </p:spPr>
        <p:txBody>
          <a:bodyPr wrap="square" lIns="0" tIns="0" rIns="0" bIns="0" rtlCol="0" anchor="ctr"/>
          <a:lstStyle/>
          <a:p>
            <a:pPr indent="0" marL="0">
              <a:buNone/>
            </a:pPr>
            <a:r>
              <a:rPr lang="en-US" sz="1250" dirty="0">
                <a:solidFill>
                  <a:srgbClr val="FFFFFF"/>
                </a:solidFill>
                <a:latin typeface="Meiryo" pitchFamily="34" charset="0"/>
                <a:ea typeface="Meiryo" pitchFamily="34" charset="-122"/>
                <a:cs typeface="Meiryo" pitchFamily="34" charset="-120"/>
              </a:rPr>
              <a:t>2026年8月16日　戦略会議資料（5時間）</a:t>
            </a:r>
            <a:endParaRPr lang="en-US" sz="1250" dirty="0"/>
          </a:p>
        </p:txBody>
      </p:sp>
      <p:sp>
        <p:nvSpPr>
          <p:cNvPr id="11" name="Text 9"/>
          <p:cNvSpPr/>
          <p:nvPr/>
        </p:nvSpPr>
        <p:spPr>
          <a:xfrm>
            <a:off x="640080" y="5394960"/>
            <a:ext cx="8229600" cy="320040"/>
          </a:xfrm>
          <a:prstGeom prst="rect">
            <a:avLst/>
          </a:prstGeom>
          <a:noFill/>
          <a:ln/>
        </p:spPr>
        <p:txBody>
          <a:bodyPr wrap="square" lIns="0" tIns="0" rIns="0" bIns="0" rtlCol="0" anchor="ctr"/>
          <a:lstStyle/>
          <a:p>
            <a:pPr indent="0" marL="0">
              <a:buNone/>
            </a:pPr>
            <a:r>
              <a:rPr lang="en-US" sz="1250" dirty="0">
                <a:solidFill>
                  <a:srgbClr val="8FA3BD"/>
                </a:solidFill>
                <a:latin typeface="Meiryo" pitchFamily="34" charset="0"/>
                <a:ea typeface="Meiryo" pitchFamily="34" charset="-122"/>
                <a:cs typeface="Meiryo" pitchFamily="34" charset="-120"/>
              </a:rPr>
              <a:t>運営コアメンバー：若林 諒　／　平野 文雄　／　辻 誠太郎</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AGENDA</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本日のゴールと進め方</a:t>
            </a:r>
            <a:endParaRPr lang="en-US" sz="3000" dirty="0"/>
          </a:p>
        </p:txBody>
      </p:sp>
      <p:sp>
        <p:nvSpPr>
          <p:cNvPr id="4" name="Shape 2"/>
          <p:cNvSpPr/>
          <p:nvPr/>
        </p:nvSpPr>
        <p:spPr>
          <a:xfrm>
            <a:off x="640080" y="1371600"/>
            <a:ext cx="5029200" cy="1371600"/>
          </a:xfrm>
          <a:prstGeom prst="roundRect">
            <a:avLst>
              <a:gd name="adj" fmla="val 5333"/>
            </a:avLst>
          </a:prstGeom>
          <a:solidFill>
            <a:srgbClr val="F6E3D6"/>
          </a:solidFill>
          <a:ln w="9525">
            <a:solidFill>
              <a:srgbClr val="E3E9F0"/>
            </a:solidFill>
            <a:prstDash val="solid"/>
          </a:ln>
          <a:effectLst>
            <a:outerShdw sx="100000" sy="100000" kx="0" ky="0" algn="bl" rotWithShape="0" blurRad="101600" dist="508" dir="5400000">
              <a:srgbClr val="9AA7B5">
                <a:alpha val="22000"/>
              </a:srgbClr>
            </a:outerShdw>
          </a:effectLst>
        </p:spPr>
        <p:txBody>
          <a:bodyPr/>
          <a:p/>
        </p:txBody>
      </p:sp>
      <p:sp>
        <p:nvSpPr>
          <p:cNvPr id="5" name="Text 3"/>
          <p:cNvSpPr/>
          <p:nvPr/>
        </p:nvSpPr>
        <p:spPr>
          <a:xfrm>
            <a:off x="960120" y="1536192"/>
            <a:ext cx="4389120" cy="292608"/>
          </a:xfrm>
          <a:prstGeom prst="rect">
            <a:avLst/>
          </a:prstGeom>
          <a:noFill/>
          <a:ln/>
        </p:spPr>
        <p:txBody>
          <a:bodyPr wrap="square" lIns="0" tIns="0" rIns="0" bIns="0" rtlCol="0" anchor="ctr"/>
          <a:lstStyle/>
          <a:p>
            <a:pPr indent="0" marL="0">
              <a:buNone/>
            </a:pPr>
            <a:r>
              <a:rPr lang="en-US" sz="1200" b="1" dirty="0">
                <a:solidFill>
                  <a:srgbClr val="E2703A"/>
                </a:solidFill>
                <a:latin typeface="Meiryo" pitchFamily="34" charset="0"/>
                <a:ea typeface="Meiryo" pitchFamily="34" charset="-122"/>
                <a:cs typeface="Meiryo" pitchFamily="34" charset="-120"/>
              </a:rPr>
              <a:t>本日の最大のゴール</a:t>
            </a:r>
            <a:endParaRPr lang="en-US" sz="1200" dirty="0"/>
          </a:p>
        </p:txBody>
      </p:sp>
      <p:sp>
        <p:nvSpPr>
          <p:cNvPr id="6" name="Text 4"/>
          <p:cNvSpPr/>
          <p:nvPr/>
        </p:nvSpPr>
        <p:spPr>
          <a:xfrm>
            <a:off x="960120" y="1874520"/>
            <a:ext cx="4480560" cy="777240"/>
          </a:xfrm>
          <a:prstGeom prst="rect">
            <a:avLst/>
          </a:prstGeom>
          <a:noFill/>
          <a:ln/>
        </p:spPr>
        <p:txBody>
          <a:bodyPr wrap="square" lIns="0" tIns="0" rIns="0" bIns="0" rtlCol="0" anchor="ctr"/>
          <a:lstStyle/>
          <a:p>
            <a:pPr indent="0" marL="0">
              <a:lnSpc>
                <a:spcPts val="2200"/>
              </a:lnSpc>
              <a:buNone/>
            </a:pPr>
            <a:r>
              <a:rPr lang="en-US" sz="1450" b="1" dirty="0">
                <a:solidFill>
                  <a:srgbClr val="1F2933"/>
                </a:solidFill>
                <a:latin typeface="Meiryo" pitchFamily="34" charset="0"/>
                <a:ea typeface="Meiryo" pitchFamily="34" charset="-122"/>
                <a:cs typeface="Meiryo" pitchFamily="34" charset="-120"/>
              </a:rPr>
              <a:t>運営メンバーが共通の言葉として語れる</a:t>
            </a:r>
            <a:endParaRPr lang="en-US" sz="1450" dirty="0"/>
          </a:p>
          <a:p>
            <a:pPr indent="0" marL="0">
              <a:lnSpc>
                <a:spcPts val="2200"/>
              </a:lnSpc>
              <a:buNone/>
            </a:pPr>
            <a:r>
              <a:rPr lang="en-US" sz="1450" b="1" dirty="0">
                <a:solidFill>
                  <a:srgbClr val="1F2933"/>
                </a:solidFill>
                <a:latin typeface="Meiryo" pitchFamily="34" charset="0"/>
                <a:ea typeface="Meiryo" pitchFamily="34" charset="-122"/>
                <a:cs typeface="Meiryo" pitchFamily="34" charset="-120"/>
              </a:rPr>
              <a:t>組織の核（PVMV）を確定させる</a:t>
            </a:r>
            <a:endParaRPr lang="en-US" sz="1450" dirty="0"/>
          </a:p>
        </p:txBody>
      </p:sp>
      <p:sp>
        <p:nvSpPr>
          <p:cNvPr id="7" name="Shape 5"/>
          <p:cNvSpPr/>
          <p:nvPr/>
        </p:nvSpPr>
        <p:spPr>
          <a:xfrm>
            <a:off x="6035040" y="1444752"/>
            <a:ext cx="384048" cy="384048"/>
          </a:xfrm>
          <a:prstGeom prst="ellipse">
            <a:avLst/>
          </a:prstGeom>
          <a:solidFill>
            <a:srgbClr val="132A4A"/>
          </a:solidFill>
          <a:ln w="12700">
            <a:solidFill>
              <a:srgbClr val="132A4A"/>
            </a:solidFill>
            <a:prstDash val="solid"/>
          </a:ln>
        </p:spPr>
        <p:txBody>
          <a:bodyPr/>
          <a:p/>
        </p:txBody>
      </p:sp>
      <p:sp>
        <p:nvSpPr>
          <p:cNvPr id="8" name="Text 6"/>
          <p:cNvSpPr/>
          <p:nvPr/>
        </p:nvSpPr>
        <p:spPr>
          <a:xfrm>
            <a:off x="6035040" y="1444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9" name="Text 7"/>
          <p:cNvSpPr/>
          <p:nvPr/>
        </p:nvSpPr>
        <p:spPr>
          <a:xfrm>
            <a:off x="6601968" y="1389888"/>
            <a:ext cx="1920240" cy="292608"/>
          </a:xfrm>
          <a:prstGeom prst="rect">
            <a:avLst/>
          </a:prstGeom>
          <a:noFill/>
          <a:ln/>
        </p:spPr>
        <p:txBody>
          <a:bodyPr wrap="square" lIns="0" tIns="0" rIns="0" bIns="0" rtlCol="0" anchor="ctr"/>
          <a:lstStyle/>
          <a:p>
            <a:pPr indent="0" marL="0">
              <a:buNone/>
            </a:pPr>
            <a:r>
              <a:rPr lang="en-US" sz="1400" b="1" dirty="0">
                <a:solidFill>
                  <a:srgbClr val="132A4A"/>
                </a:solidFill>
                <a:latin typeface="Meiryo" pitchFamily="34" charset="0"/>
                <a:ea typeface="Meiryo" pitchFamily="34" charset="-122"/>
                <a:cs typeface="Meiryo" pitchFamily="34" charset="-120"/>
              </a:rPr>
              <a:t>序論</a:t>
            </a:r>
            <a:endParaRPr lang="en-US" sz="1400" dirty="0"/>
          </a:p>
        </p:txBody>
      </p:sp>
      <p:sp>
        <p:nvSpPr>
          <p:cNvPr id="10" name="Text 8"/>
          <p:cNvSpPr/>
          <p:nvPr/>
        </p:nvSpPr>
        <p:spPr>
          <a:xfrm>
            <a:off x="8321040" y="1389888"/>
            <a:ext cx="3291840" cy="292608"/>
          </a:xfrm>
          <a:prstGeom prst="rect">
            <a:avLst/>
          </a:prstGeom>
          <a:noFill/>
          <a:ln/>
        </p:spPr>
        <p:txBody>
          <a:bodyPr wrap="square" lIns="0" tIns="0" rIns="0" bIns="0" rtlCol="0" anchor="ctr"/>
          <a:lstStyle/>
          <a:p>
            <a:pPr indent="0" marL="0">
              <a:buNone/>
            </a:pPr>
            <a:r>
              <a:rPr lang="en-US" sz="1150" dirty="0">
                <a:solidFill>
                  <a:srgbClr val="667384"/>
                </a:solidFill>
                <a:latin typeface="Meiryo" pitchFamily="34" charset="0"/>
                <a:ea typeface="Meiryo" pitchFamily="34" charset="-122"/>
                <a:cs typeface="Meiryo" pitchFamily="34" charset="-120"/>
              </a:rPr>
              <a:t>現状認識とレポートの目的</a:t>
            </a:r>
            <a:endParaRPr lang="en-US" sz="1150" dirty="0"/>
          </a:p>
        </p:txBody>
      </p:sp>
      <p:sp>
        <p:nvSpPr>
          <p:cNvPr id="11" name="Shape 9"/>
          <p:cNvSpPr/>
          <p:nvPr/>
        </p:nvSpPr>
        <p:spPr>
          <a:xfrm>
            <a:off x="6035040" y="2103120"/>
            <a:ext cx="384048" cy="384048"/>
          </a:xfrm>
          <a:prstGeom prst="ellipse">
            <a:avLst/>
          </a:prstGeom>
          <a:solidFill>
            <a:srgbClr val="132A4A"/>
          </a:solidFill>
          <a:ln w="12700">
            <a:solidFill>
              <a:srgbClr val="132A4A"/>
            </a:solidFill>
            <a:prstDash val="solid"/>
          </a:ln>
        </p:spPr>
        <p:txBody>
          <a:bodyPr/>
          <a:p/>
        </p:txBody>
      </p:sp>
      <p:sp>
        <p:nvSpPr>
          <p:cNvPr id="12" name="Text 10"/>
          <p:cNvSpPr/>
          <p:nvPr/>
        </p:nvSpPr>
        <p:spPr>
          <a:xfrm>
            <a:off x="6035040" y="2103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3" name="Text 11"/>
          <p:cNvSpPr/>
          <p:nvPr/>
        </p:nvSpPr>
        <p:spPr>
          <a:xfrm>
            <a:off x="6601968" y="2048256"/>
            <a:ext cx="1920240" cy="292608"/>
          </a:xfrm>
          <a:prstGeom prst="rect">
            <a:avLst/>
          </a:prstGeom>
          <a:noFill/>
          <a:ln/>
        </p:spPr>
        <p:txBody>
          <a:bodyPr wrap="square" lIns="0" tIns="0" rIns="0" bIns="0" rtlCol="0" anchor="ctr"/>
          <a:lstStyle/>
          <a:p>
            <a:pPr indent="0" marL="0">
              <a:buNone/>
            </a:pPr>
            <a:r>
              <a:rPr lang="en-US" sz="1400" b="1" dirty="0">
                <a:solidFill>
                  <a:srgbClr val="132A4A"/>
                </a:solidFill>
                <a:latin typeface="Meiryo" pitchFamily="34" charset="0"/>
                <a:ea typeface="Meiryo" pitchFamily="34" charset="-122"/>
                <a:cs typeface="Meiryo" pitchFamily="34" charset="-120"/>
              </a:rPr>
              <a:t>CLSの本質</a:t>
            </a:r>
            <a:endParaRPr lang="en-US" sz="1400" dirty="0"/>
          </a:p>
        </p:txBody>
      </p:sp>
      <p:sp>
        <p:nvSpPr>
          <p:cNvPr id="14" name="Text 12"/>
          <p:cNvSpPr/>
          <p:nvPr/>
        </p:nvSpPr>
        <p:spPr>
          <a:xfrm>
            <a:off x="8321040" y="2048256"/>
            <a:ext cx="3291840" cy="292608"/>
          </a:xfrm>
          <a:prstGeom prst="rect">
            <a:avLst/>
          </a:prstGeom>
          <a:noFill/>
          <a:ln/>
        </p:spPr>
        <p:txBody>
          <a:bodyPr wrap="square" lIns="0" tIns="0" rIns="0" bIns="0" rtlCol="0" anchor="ctr"/>
          <a:lstStyle/>
          <a:p>
            <a:pPr indent="0" marL="0">
              <a:buNone/>
            </a:pPr>
            <a:r>
              <a:rPr lang="en-US" sz="1150" dirty="0">
                <a:solidFill>
                  <a:srgbClr val="667384"/>
                </a:solidFill>
                <a:latin typeface="Meiryo" pitchFamily="34" charset="0"/>
                <a:ea typeface="Meiryo" pitchFamily="34" charset="-122"/>
                <a:cs typeface="Meiryo" pitchFamily="34" charset="-120"/>
              </a:rPr>
              <a:t>高知からの系譜と提供価値</a:t>
            </a:r>
            <a:endParaRPr lang="en-US" sz="1150" dirty="0"/>
          </a:p>
        </p:txBody>
      </p:sp>
      <p:sp>
        <p:nvSpPr>
          <p:cNvPr id="15" name="Shape 13"/>
          <p:cNvSpPr/>
          <p:nvPr/>
        </p:nvSpPr>
        <p:spPr>
          <a:xfrm>
            <a:off x="6035040" y="2761488"/>
            <a:ext cx="384048" cy="384048"/>
          </a:xfrm>
          <a:prstGeom prst="ellipse">
            <a:avLst/>
          </a:prstGeom>
          <a:solidFill>
            <a:srgbClr val="132A4A"/>
          </a:solidFill>
          <a:ln w="12700">
            <a:solidFill>
              <a:srgbClr val="132A4A"/>
            </a:solidFill>
            <a:prstDash val="solid"/>
          </a:ln>
        </p:spPr>
        <p:txBody>
          <a:bodyPr/>
          <a:p/>
        </p:txBody>
      </p:sp>
      <p:sp>
        <p:nvSpPr>
          <p:cNvPr id="16" name="Text 14"/>
          <p:cNvSpPr/>
          <p:nvPr/>
        </p:nvSpPr>
        <p:spPr>
          <a:xfrm>
            <a:off x="6035040" y="2761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7" name="Text 15"/>
          <p:cNvSpPr/>
          <p:nvPr/>
        </p:nvSpPr>
        <p:spPr>
          <a:xfrm>
            <a:off x="6601968" y="2706624"/>
            <a:ext cx="1920240" cy="292608"/>
          </a:xfrm>
          <a:prstGeom prst="rect">
            <a:avLst/>
          </a:prstGeom>
          <a:noFill/>
          <a:ln/>
        </p:spPr>
        <p:txBody>
          <a:bodyPr wrap="square" lIns="0" tIns="0" rIns="0" bIns="0" rtlCol="0" anchor="ctr"/>
          <a:lstStyle/>
          <a:p>
            <a:pPr indent="0" marL="0">
              <a:buNone/>
            </a:pPr>
            <a:r>
              <a:rPr lang="en-US" sz="1400" b="1" dirty="0">
                <a:solidFill>
                  <a:srgbClr val="132A4A"/>
                </a:solidFill>
                <a:latin typeface="Meiryo" pitchFamily="34" charset="0"/>
                <a:ea typeface="Meiryo" pitchFamily="34" charset="-122"/>
                <a:cs typeface="Meiryo" pitchFamily="34" charset="-120"/>
              </a:rPr>
              <a:t>再言語化</a:t>
            </a:r>
            <a:endParaRPr lang="en-US" sz="1400" dirty="0"/>
          </a:p>
        </p:txBody>
      </p:sp>
      <p:sp>
        <p:nvSpPr>
          <p:cNvPr id="18" name="Text 16"/>
          <p:cNvSpPr/>
          <p:nvPr/>
        </p:nvSpPr>
        <p:spPr>
          <a:xfrm>
            <a:off x="8321040" y="2706624"/>
            <a:ext cx="3291840" cy="292608"/>
          </a:xfrm>
          <a:prstGeom prst="rect">
            <a:avLst/>
          </a:prstGeom>
          <a:noFill/>
          <a:ln/>
        </p:spPr>
        <p:txBody>
          <a:bodyPr wrap="square" lIns="0" tIns="0" rIns="0" bIns="0" rtlCol="0" anchor="ctr"/>
          <a:lstStyle/>
          <a:p>
            <a:pPr indent="0" marL="0">
              <a:buNone/>
            </a:pPr>
            <a:r>
              <a:rPr lang="en-US" sz="1150" dirty="0">
                <a:solidFill>
                  <a:srgbClr val="667384"/>
                </a:solidFill>
                <a:latin typeface="Meiryo" pitchFamily="34" charset="0"/>
                <a:ea typeface="Meiryo" pitchFamily="34" charset="-122"/>
                <a:cs typeface="Meiryo" pitchFamily="34" charset="-120"/>
              </a:rPr>
              <a:t>「CLSとは何か」を30秒で伝える</a:t>
            </a:r>
            <a:endParaRPr lang="en-US" sz="1150" dirty="0"/>
          </a:p>
        </p:txBody>
      </p:sp>
      <p:sp>
        <p:nvSpPr>
          <p:cNvPr id="19" name="Shape 17"/>
          <p:cNvSpPr/>
          <p:nvPr/>
        </p:nvSpPr>
        <p:spPr>
          <a:xfrm>
            <a:off x="6035040" y="3419856"/>
            <a:ext cx="384048" cy="384048"/>
          </a:xfrm>
          <a:prstGeom prst="ellipse">
            <a:avLst/>
          </a:prstGeom>
          <a:solidFill>
            <a:srgbClr val="132A4A"/>
          </a:solidFill>
          <a:ln w="12700">
            <a:solidFill>
              <a:srgbClr val="132A4A"/>
            </a:solidFill>
            <a:prstDash val="solid"/>
          </a:ln>
        </p:spPr>
        <p:txBody>
          <a:bodyPr/>
          <a:p/>
        </p:txBody>
      </p:sp>
      <p:sp>
        <p:nvSpPr>
          <p:cNvPr id="20" name="Text 18"/>
          <p:cNvSpPr/>
          <p:nvPr/>
        </p:nvSpPr>
        <p:spPr>
          <a:xfrm>
            <a:off x="6035040" y="3419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21" name="Text 19"/>
          <p:cNvSpPr/>
          <p:nvPr/>
        </p:nvSpPr>
        <p:spPr>
          <a:xfrm>
            <a:off x="6601968" y="3364992"/>
            <a:ext cx="1920240" cy="292608"/>
          </a:xfrm>
          <a:prstGeom prst="rect">
            <a:avLst/>
          </a:prstGeom>
          <a:noFill/>
          <a:ln/>
        </p:spPr>
        <p:txBody>
          <a:bodyPr wrap="square" lIns="0" tIns="0" rIns="0" bIns="0" rtlCol="0" anchor="ctr"/>
          <a:lstStyle/>
          <a:p>
            <a:pPr indent="0" marL="0">
              <a:buNone/>
            </a:pPr>
            <a:r>
              <a:rPr lang="en-US" sz="1400" b="1" dirty="0">
                <a:solidFill>
                  <a:srgbClr val="132A4A"/>
                </a:solidFill>
                <a:latin typeface="Meiryo" pitchFamily="34" charset="0"/>
                <a:ea typeface="Meiryo" pitchFamily="34" charset="-122"/>
                <a:cs typeface="Meiryo" pitchFamily="34" charset="-120"/>
              </a:rPr>
              <a:t>現状分析</a:t>
            </a:r>
            <a:endParaRPr lang="en-US" sz="1400" dirty="0"/>
          </a:p>
        </p:txBody>
      </p:sp>
      <p:sp>
        <p:nvSpPr>
          <p:cNvPr id="22" name="Text 20"/>
          <p:cNvSpPr/>
          <p:nvPr/>
        </p:nvSpPr>
        <p:spPr>
          <a:xfrm>
            <a:off x="8321040" y="3364992"/>
            <a:ext cx="3291840" cy="292608"/>
          </a:xfrm>
          <a:prstGeom prst="rect">
            <a:avLst/>
          </a:prstGeom>
          <a:noFill/>
          <a:ln/>
        </p:spPr>
        <p:txBody>
          <a:bodyPr wrap="square" lIns="0" tIns="0" rIns="0" bIns="0" rtlCol="0" anchor="ctr"/>
          <a:lstStyle/>
          <a:p>
            <a:pPr indent="0" marL="0">
              <a:buNone/>
            </a:pPr>
            <a:r>
              <a:rPr lang="en-US" sz="1150" dirty="0">
                <a:solidFill>
                  <a:srgbClr val="667384"/>
                </a:solidFill>
                <a:latin typeface="Meiryo" pitchFamily="34" charset="0"/>
                <a:ea typeface="Meiryo" pitchFamily="34" charset="-122"/>
                <a:cs typeface="Meiryo" pitchFamily="34" charset="-120"/>
              </a:rPr>
              <a:t>合宿型・小規模開催の優位性</a:t>
            </a:r>
            <a:endParaRPr lang="en-US" sz="1150" dirty="0"/>
          </a:p>
        </p:txBody>
      </p:sp>
      <p:sp>
        <p:nvSpPr>
          <p:cNvPr id="23" name="Shape 21"/>
          <p:cNvSpPr/>
          <p:nvPr/>
        </p:nvSpPr>
        <p:spPr>
          <a:xfrm>
            <a:off x="6035040" y="4078224"/>
            <a:ext cx="384048" cy="384048"/>
          </a:xfrm>
          <a:prstGeom prst="ellipse">
            <a:avLst/>
          </a:prstGeom>
          <a:solidFill>
            <a:srgbClr val="E2703A"/>
          </a:solidFill>
          <a:ln w="12700">
            <a:solidFill>
              <a:srgbClr val="E2703A"/>
            </a:solidFill>
            <a:prstDash val="solid"/>
          </a:ln>
        </p:spPr>
        <p:txBody>
          <a:bodyPr/>
          <a:p/>
        </p:txBody>
      </p:sp>
      <p:sp>
        <p:nvSpPr>
          <p:cNvPr id="24" name="Text 22"/>
          <p:cNvSpPr/>
          <p:nvPr/>
        </p:nvSpPr>
        <p:spPr>
          <a:xfrm>
            <a:off x="6035040" y="40782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25" name="Text 23"/>
          <p:cNvSpPr/>
          <p:nvPr/>
        </p:nvSpPr>
        <p:spPr>
          <a:xfrm>
            <a:off x="6601968" y="4023360"/>
            <a:ext cx="1920240" cy="292608"/>
          </a:xfrm>
          <a:prstGeom prst="rect">
            <a:avLst/>
          </a:prstGeom>
          <a:noFill/>
          <a:ln/>
        </p:spPr>
        <p:txBody>
          <a:bodyPr wrap="square" lIns="0" tIns="0" rIns="0" bIns="0" rtlCol="0" anchor="ctr"/>
          <a:lstStyle/>
          <a:p>
            <a:pPr indent="0" marL="0">
              <a:buNone/>
            </a:pPr>
            <a:r>
              <a:rPr lang="en-US" sz="1400" b="1" dirty="0">
                <a:solidFill>
                  <a:srgbClr val="132A4A"/>
                </a:solidFill>
                <a:latin typeface="Meiryo" pitchFamily="34" charset="0"/>
                <a:ea typeface="Meiryo" pitchFamily="34" charset="-122"/>
                <a:cs typeface="Meiryo" pitchFamily="34" charset="-120"/>
              </a:rPr>
              <a:t>PVMV策定</a:t>
            </a:r>
            <a:endParaRPr lang="en-US" sz="1400" dirty="0"/>
          </a:p>
        </p:txBody>
      </p:sp>
      <p:sp>
        <p:nvSpPr>
          <p:cNvPr id="26" name="Text 24"/>
          <p:cNvSpPr/>
          <p:nvPr/>
        </p:nvSpPr>
        <p:spPr>
          <a:xfrm>
            <a:off x="8321040" y="4023360"/>
            <a:ext cx="3291840" cy="292608"/>
          </a:xfrm>
          <a:prstGeom prst="rect">
            <a:avLst/>
          </a:prstGeom>
          <a:noFill/>
          <a:ln/>
        </p:spPr>
        <p:txBody>
          <a:bodyPr wrap="square" lIns="0" tIns="0" rIns="0" bIns="0" rtlCol="0" anchor="ctr"/>
          <a:lstStyle/>
          <a:p>
            <a:pPr indent="0" marL="0">
              <a:buNone/>
            </a:pPr>
            <a:r>
              <a:rPr lang="en-US" sz="1150" dirty="0">
                <a:solidFill>
                  <a:srgbClr val="667384"/>
                </a:solidFill>
                <a:latin typeface="Meiryo" pitchFamily="34" charset="0"/>
                <a:ea typeface="Meiryo" pitchFamily="34" charset="-122"/>
                <a:cs typeface="Meiryo" pitchFamily="34" charset="-120"/>
              </a:rPr>
              <a:t>パーパス／ビジョン／ミッション／バリュー</a:t>
            </a:r>
            <a:endParaRPr lang="en-US" sz="1150" dirty="0"/>
          </a:p>
        </p:txBody>
      </p:sp>
      <p:sp>
        <p:nvSpPr>
          <p:cNvPr id="27" name="Shape 25"/>
          <p:cNvSpPr/>
          <p:nvPr/>
        </p:nvSpPr>
        <p:spPr>
          <a:xfrm>
            <a:off x="6035040" y="4736592"/>
            <a:ext cx="384048" cy="384048"/>
          </a:xfrm>
          <a:prstGeom prst="ellipse">
            <a:avLst/>
          </a:prstGeom>
          <a:solidFill>
            <a:srgbClr val="E2703A"/>
          </a:solidFill>
          <a:ln w="12700">
            <a:solidFill>
              <a:srgbClr val="E2703A"/>
            </a:solidFill>
            <a:prstDash val="solid"/>
          </a:ln>
        </p:spPr>
        <p:txBody>
          <a:bodyPr/>
          <a:p/>
        </p:txBody>
      </p:sp>
      <p:sp>
        <p:nvSpPr>
          <p:cNvPr id="28" name="Text 26"/>
          <p:cNvSpPr/>
          <p:nvPr/>
        </p:nvSpPr>
        <p:spPr>
          <a:xfrm>
            <a:off x="6035040" y="47365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29" name="Text 27"/>
          <p:cNvSpPr/>
          <p:nvPr/>
        </p:nvSpPr>
        <p:spPr>
          <a:xfrm>
            <a:off x="6601968" y="4681728"/>
            <a:ext cx="1920240" cy="292608"/>
          </a:xfrm>
          <a:prstGeom prst="rect">
            <a:avLst/>
          </a:prstGeom>
          <a:noFill/>
          <a:ln/>
        </p:spPr>
        <p:txBody>
          <a:bodyPr wrap="square" lIns="0" tIns="0" rIns="0" bIns="0" rtlCol="0" anchor="ctr"/>
          <a:lstStyle/>
          <a:p>
            <a:pPr indent="0" marL="0">
              <a:buNone/>
            </a:pPr>
            <a:r>
              <a:rPr lang="en-US" sz="1400" b="1" dirty="0">
                <a:solidFill>
                  <a:srgbClr val="132A4A"/>
                </a:solidFill>
                <a:latin typeface="Meiryo" pitchFamily="34" charset="0"/>
                <a:ea typeface="Meiryo" pitchFamily="34" charset="-122"/>
                <a:cs typeface="Meiryo" pitchFamily="34" charset="-120"/>
              </a:rPr>
              <a:t>アクション</a:t>
            </a:r>
            <a:endParaRPr lang="en-US" sz="1400" dirty="0"/>
          </a:p>
        </p:txBody>
      </p:sp>
      <p:sp>
        <p:nvSpPr>
          <p:cNvPr id="30" name="Text 28"/>
          <p:cNvSpPr/>
          <p:nvPr/>
        </p:nvSpPr>
        <p:spPr>
          <a:xfrm>
            <a:off x="8321040" y="4681728"/>
            <a:ext cx="3291840" cy="292608"/>
          </a:xfrm>
          <a:prstGeom prst="rect">
            <a:avLst/>
          </a:prstGeom>
          <a:noFill/>
          <a:ln/>
        </p:spPr>
        <p:txBody>
          <a:bodyPr wrap="square" lIns="0" tIns="0" rIns="0" bIns="0" rtlCol="0" anchor="ctr"/>
          <a:lstStyle/>
          <a:p>
            <a:pPr indent="0" marL="0">
              <a:buNone/>
            </a:pPr>
            <a:r>
              <a:rPr lang="en-US" sz="1150" dirty="0">
                <a:solidFill>
                  <a:srgbClr val="667384"/>
                </a:solidFill>
                <a:latin typeface="Meiryo" pitchFamily="34" charset="0"/>
                <a:ea typeface="Meiryo" pitchFamily="34" charset="-122"/>
                <a:cs typeface="Meiryo" pitchFamily="34" charset="-120"/>
              </a:rPr>
              <a:t>運営勧誘・協賛モデル・参加者リーチ</a:t>
            </a:r>
            <a:endParaRPr lang="en-US" sz="1150" dirty="0"/>
          </a:p>
        </p:txBody>
      </p:sp>
      <p:sp>
        <p:nvSpPr>
          <p:cNvPr id="31" name="Shape 29"/>
          <p:cNvSpPr/>
          <p:nvPr/>
        </p:nvSpPr>
        <p:spPr>
          <a:xfrm>
            <a:off x="6035040" y="5394960"/>
            <a:ext cx="384048" cy="384048"/>
          </a:xfrm>
          <a:prstGeom prst="ellipse">
            <a:avLst/>
          </a:prstGeom>
          <a:solidFill>
            <a:srgbClr val="E2703A"/>
          </a:solidFill>
          <a:ln w="12700">
            <a:solidFill>
              <a:srgbClr val="E2703A"/>
            </a:solidFill>
            <a:prstDash val="solid"/>
          </a:ln>
        </p:spPr>
      </p:sp>
      <p:sp>
        <p:nvSpPr>
          <p:cNvPr id="32" name="Text 30"/>
          <p:cNvSpPr/>
          <p:nvPr/>
        </p:nvSpPr>
        <p:spPr>
          <a:xfrm>
            <a:off x="6035040" y="5394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7</a:t>
            </a:r>
            <a:endParaRPr lang="en-US" sz="1300" dirty="0"/>
          </a:p>
        </p:txBody>
      </p:sp>
      <p:sp>
        <p:nvSpPr>
          <p:cNvPr id="33" name="Text 31"/>
          <p:cNvSpPr/>
          <p:nvPr/>
        </p:nvSpPr>
        <p:spPr>
          <a:xfrm>
            <a:off x="6601968" y="5340096"/>
            <a:ext cx="1920240" cy="292608"/>
          </a:xfrm>
          <a:prstGeom prst="rect">
            <a:avLst/>
          </a:prstGeom>
          <a:noFill/>
          <a:ln/>
        </p:spPr>
        <p:txBody>
          <a:bodyPr wrap="square" lIns="0" tIns="0" rIns="0" bIns="0" rtlCol="0" anchor="ctr"/>
          <a:lstStyle/>
          <a:p>
            <a:pPr indent="0" marL="0">
              <a:buNone/>
            </a:pPr>
            <a:r>
              <a:rPr lang="en-US" sz="1400" b="1" dirty="0">
                <a:solidFill>
                  <a:srgbClr val="132A4A"/>
                </a:solidFill>
                <a:latin typeface="Meiryo" pitchFamily="34" charset="0"/>
                <a:ea typeface="Meiryo" pitchFamily="34" charset="-122"/>
                <a:cs typeface="Meiryo" pitchFamily="34" charset="-120"/>
              </a:rPr>
              <a:t>結論</a:t>
            </a:r>
            <a:endParaRPr lang="en-US" sz="1400" dirty="0"/>
          </a:p>
        </p:txBody>
      </p:sp>
      <p:sp>
        <p:nvSpPr>
          <p:cNvPr id="34" name="Text 32"/>
          <p:cNvSpPr/>
          <p:nvPr/>
        </p:nvSpPr>
        <p:spPr>
          <a:xfrm>
            <a:off x="8321040" y="5340096"/>
            <a:ext cx="3291840" cy="292608"/>
          </a:xfrm>
          <a:prstGeom prst="rect">
            <a:avLst/>
          </a:prstGeom>
          <a:noFill/>
          <a:ln/>
        </p:spPr>
        <p:txBody>
          <a:bodyPr wrap="square" lIns="0" tIns="0" rIns="0" bIns="0" rtlCol="0" anchor="ctr"/>
          <a:lstStyle/>
          <a:p>
            <a:pPr indent="0" marL="0">
              <a:buNone/>
            </a:pPr>
            <a:r>
              <a:rPr lang="en-US" sz="1150" dirty="0">
                <a:solidFill>
                  <a:srgbClr val="667384"/>
                </a:solidFill>
                <a:latin typeface="Meiryo" pitchFamily="34" charset="0"/>
                <a:ea typeface="Meiryo" pitchFamily="34" charset="-122"/>
                <a:cs typeface="Meiryo" pitchFamily="34" charset="-120"/>
              </a:rPr>
              <a:t>共通言語の確立</a:t>
            </a:r>
            <a:endParaRPr lang="en-US" sz="1150" dirty="0"/>
          </a:p>
        </p:txBody>
      </p:sp>
      <p:sp>
        <p:nvSpPr>
          <p:cNvPr id="35" name="Shape 33"/>
          <p:cNvSpPr/>
          <p:nvPr/>
        </p:nvSpPr>
        <p:spPr>
          <a:xfrm>
            <a:off x="640080" y="2971800"/>
            <a:ext cx="5029200" cy="2697480"/>
          </a:xfrm>
          <a:prstGeom prst="roundRect">
            <a:avLst>
              <a:gd name="adj" fmla="val 2712"/>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36" name="Text 34"/>
          <p:cNvSpPr/>
          <p:nvPr/>
        </p:nvSpPr>
        <p:spPr>
          <a:xfrm>
            <a:off x="960120" y="3154680"/>
            <a:ext cx="4389120" cy="292608"/>
          </a:xfrm>
          <a:prstGeom prst="rect">
            <a:avLst/>
          </a:prstGeom>
          <a:noFill/>
          <a:ln/>
        </p:spPr>
        <p:txBody>
          <a:bodyPr wrap="square" lIns="0" tIns="0" rIns="0" bIns="0" rtlCol="0" anchor="ctr"/>
          <a:lstStyle/>
          <a:p>
            <a:pPr indent="0" marL="0">
              <a:buNone/>
            </a:pPr>
            <a:r>
              <a:rPr lang="en-US" sz="1200" b="1" dirty="0">
                <a:solidFill>
                  <a:srgbClr val="132A4A"/>
                </a:solidFill>
                <a:latin typeface="Meiryo" pitchFamily="34" charset="0"/>
                <a:ea typeface="Meiryo" pitchFamily="34" charset="-122"/>
                <a:cs typeface="Meiryo" pitchFamily="34" charset="-120"/>
              </a:rPr>
              <a:t>前提となる3つの与件</a:t>
            </a:r>
            <a:endParaRPr lang="en-US" sz="1200" dirty="0"/>
          </a:p>
        </p:txBody>
      </p:sp>
      <p:sp>
        <p:nvSpPr>
          <p:cNvPr id="37" name="Shape 35"/>
          <p:cNvSpPr/>
          <p:nvPr/>
        </p:nvSpPr>
        <p:spPr>
          <a:xfrm>
            <a:off x="960120" y="3602736"/>
            <a:ext cx="128016" cy="128016"/>
          </a:xfrm>
          <a:prstGeom prst="ellipse">
            <a:avLst/>
          </a:prstGeom>
          <a:solidFill>
            <a:srgbClr val="E2703A"/>
          </a:solidFill>
          <a:ln w="12700">
            <a:solidFill>
              <a:srgbClr val="333333"/>
            </a:solidFill>
            <a:prstDash val="solid"/>
          </a:ln>
        </p:spPr>
      </p:sp>
      <p:sp>
        <p:nvSpPr>
          <p:cNvPr id="38" name="Text 36"/>
          <p:cNvSpPr/>
          <p:nvPr/>
        </p:nvSpPr>
        <p:spPr>
          <a:xfrm>
            <a:off x="1207008" y="3520440"/>
            <a:ext cx="4114800" cy="274320"/>
          </a:xfrm>
          <a:prstGeom prst="rect">
            <a:avLst/>
          </a:prstGeom>
          <a:noFill/>
          <a:ln/>
        </p:spPr>
        <p:txBody>
          <a:bodyPr wrap="square" lIns="0" tIns="0" rIns="0" bIns="0" rtlCol="0" anchor="ctr"/>
          <a:lstStyle/>
          <a:p>
            <a:pPr indent="0" marL="0">
              <a:buNone/>
            </a:pPr>
            <a:r>
              <a:rPr lang="en-US" sz="1350" b="1" dirty="0">
                <a:solidFill>
                  <a:srgbClr val="1F2933"/>
                </a:solidFill>
                <a:latin typeface="Meiryo" pitchFamily="34" charset="0"/>
                <a:ea typeface="Meiryo" pitchFamily="34" charset="-122"/>
                <a:cs typeface="Meiryo" pitchFamily="34" charset="-120"/>
              </a:rPr>
              <a:t>運営メンバーは3名</a:t>
            </a:r>
            <a:endParaRPr lang="en-US" sz="1350" dirty="0"/>
          </a:p>
        </p:txBody>
      </p:sp>
      <p:sp>
        <p:nvSpPr>
          <p:cNvPr id="39" name="Text 37"/>
          <p:cNvSpPr/>
          <p:nvPr/>
        </p:nvSpPr>
        <p:spPr>
          <a:xfrm>
            <a:off x="1207008" y="3803904"/>
            <a:ext cx="4114800" cy="274320"/>
          </a:xfrm>
          <a:prstGeom prst="rect">
            <a:avLst/>
          </a:prstGeom>
          <a:noFill/>
          <a:ln/>
        </p:spPr>
        <p:txBody>
          <a:bodyPr wrap="square" lIns="0" tIns="0" rIns="0" bIns="0" rtlCol="0" anchor="ctr"/>
          <a:lstStyle/>
          <a:p>
            <a:pPr indent="0" marL="0">
              <a:buNone/>
            </a:pPr>
            <a:r>
              <a:rPr lang="en-US" sz="1150" dirty="0">
                <a:solidFill>
                  <a:srgbClr val="667384"/>
                </a:solidFill>
                <a:latin typeface="Meiryo" pitchFamily="34" charset="0"/>
                <a:ea typeface="Meiryo" pitchFamily="34" charset="-122"/>
                <a:cs typeface="Meiryo" pitchFamily="34" charset="-120"/>
              </a:rPr>
              <a:t>若林・平野・辻の体制へ集約</a:t>
            </a:r>
            <a:endParaRPr lang="en-US" sz="1150" dirty="0"/>
          </a:p>
        </p:txBody>
      </p:sp>
      <p:sp>
        <p:nvSpPr>
          <p:cNvPr id="40" name="Shape 38"/>
          <p:cNvSpPr/>
          <p:nvPr/>
        </p:nvSpPr>
        <p:spPr>
          <a:xfrm>
            <a:off x="960120" y="4315968"/>
            <a:ext cx="128016" cy="128016"/>
          </a:xfrm>
          <a:prstGeom prst="ellipse">
            <a:avLst/>
          </a:prstGeom>
          <a:solidFill>
            <a:srgbClr val="E2703A"/>
          </a:solidFill>
          <a:ln w="12700">
            <a:solidFill>
              <a:srgbClr val="333333"/>
            </a:solidFill>
            <a:prstDash val="solid"/>
          </a:ln>
        </p:spPr>
      </p:sp>
      <p:sp>
        <p:nvSpPr>
          <p:cNvPr id="41" name="Text 39"/>
          <p:cNvSpPr/>
          <p:nvPr/>
        </p:nvSpPr>
        <p:spPr>
          <a:xfrm>
            <a:off x="1207008" y="4233672"/>
            <a:ext cx="4114800" cy="274320"/>
          </a:xfrm>
          <a:prstGeom prst="rect">
            <a:avLst/>
          </a:prstGeom>
          <a:noFill/>
          <a:ln/>
        </p:spPr>
        <p:txBody>
          <a:bodyPr wrap="square" lIns="0" tIns="0" rIns="0" bIns="0" rtlCol="0" anchor="ctr"/>
          <a:lstStyle/>
          <a:p>
            <a:pPr indent="0" marL="0">
              <a:buNone/>
            </a:pPr>
            <a:r>
              <a:rPr lang="en-US" sz="1350" b="1" dirty="0">
                <a:solidFill>
                  <a:srgbClr val="1F2933"/>
                </a:solidFill>
                <a:latin typeface="Meiryo" pitchFamily="34" charset="0"/>
                <a:ea typeface="Meiryo" pitchFamily="34" charset="-122"/>
                <a:cs typeface="Meiryo" pitchFamily="34" charset="-120"/>
              </a:rPr>
              <a:t>協賛関係はリセット</a:t>
            </a:r>
            <a:endParaRPr lang="en-US" sz="1350" dirty="0"/>
          </a:p>
        </p:txBody>
      </p:sp>
      <p:sp>
        <p:nvSpPr>
          <p:cNvPr id="42" name="Text 40"/>
          <p:cNvSpPr/>
          <p:nvPr/>
        </p:nvSpPr>
        <p:spPr>
          <a:xfrm>
            <a:off x="1207008" y="4517136"/>
            <a:ext cx="4114800" cy="274320"/>
          </a:xfrm>
          <a:prstGeom prst="rect">
            <a:avLst/>
          </a:prstGeom>
          <a:noFill/>
          <a:ln/>
        </p:spPr>
        <p:txBody>
          <a:bodyPr wrap="square" lIns="0" tIns="0" rIns="0" bIns="0" rtlCol="0" anchor="ctr"/>
          <a:lstStyle/>
          <a:p>
            <a:pPr indent="0" marL="0">
              <a:buNone/>
            </a:pPr>
            <a:r>
              <a:rPr lang="en-US" sz="1150" dirty="0">
                <a:solidFill>
                  <a:srgbClr val="667384"/>
                </a:solidFill>
                <a:latin typeface="Meiryo" pitchFamily="34" charset="0"/>
                <a:ea typeface="Meiryo" pitchFamily="34" charset="-122"/>
                <a:cs typeface="Meiryo" pitchFamily="34" charset="-120"/>
              </a:rPr>
              <a:t>実質「ゼロからのリスタート」</a:t>
            </a:r>
            <a:endParaRPr lang="en-US" sz="1150" dirty="0"/>
          </a:p>
        </p:txBody>
      </p:sp>
      <p:sp>
        <p:nvSpPr>
          <p:cNvPr id="43" name="Shape 41"/>
          <p:cNvSpPr/>
          <p:nvPr/>
        </p:nvSpPr>
        <p:spPr>
          <a:xfrm>
            <a:off x="960120" y="5029200"/>
            <a:ext cx="128016" cy="128016"/>
          </a:xfrm>
          <a:prstGeom prst="ellipse">
            <a:avLst/>
          </a:prstGeom>
          <a:solidFill>
            <a:srgbClr val="E2703A"/>
          </a:solidFill>
          <a:ln w="12700">
            <a:solidFill>
              <a:srgbClr val="333333"/>
            </a:solidFill>
            <a:prstDash val="solid"/>
          </a:ln>
        </p:spPr>
      </p:sp>
      <p:sp>
        <p:nvSpPr>
          <p:cNvPr id="44" name="Text 42"/>
          <p:cNvSpPr/>
          <p:nvPr/>
        </p:nvSpPr>
        <p:spPr>
          <a:xfrm>
            <a:off x="1207008" y="4946904"/>
            <a:ext cx="4114800" cy="274320"/>
          </a:xfrm>
          <a:prstGeom prst="rect">
            <a:avLst/>
          </a:prstGeom>
          <a:noFill/>
          <a:ln/>
        </p:spPr>
        <p:txBody>
          <a:bodyPr wrap="square" lIns="0" tIns="0" rIns="0" bIns="0" rtlCol="0" anchor="ctr"/>
          <a:lstStyle/>
          <a:p>
            <a:pPr indent="0" marL="0">
              <a:buNone/>
            </a:pPr>
            <a:r>
              <a:rPr lang="en-US" sz="1350" b="1" dirty="0">
                <a:solidFill>
                  <a:srgbClr val="1F2933"/>
                </a:solidFill>
                <a:latin typeface="Meiryo" pitchFamily="34" charset="0"/>
                <a:ea typeface="Meiryo" pitchFamily="34" charset="-122"/>
                <a:cs typeface="Meiryo" pitchFamily="34" charset="-120"/>
              </a:rPr>
              <a:t>開催は2027年1〜2月想定</a:t>
            </a:r>
            <a:endParaRPr lang="en-US" sz="1350" dirty="0"/>
          </a:p>
        </p:txBody>
      </p:sp>
      <p:sp>
        <p:nvSpPr>
          <p:cNvPr id="45" name="Text 43"/>
          <p:cNvSpPr/>
          <p:nvPr/>
        </p:nvSpPr>
        <p:spPr>
          <a:xfrm>
            <a:off x="1207008" y="5230368"/>
            <a:ext cx="4114800" cy="274320"/>
          </a:xfrm>
          <a:prstGeom prst="rect">
            <a:avLst/>
          </a:prstGeom>
          <a:noFill/>
          <a:ln/>
        </p:spPr>
        <p:txBody>
          <a:bodyPr wrap="square" lIns="0" tIns="0" rIns="0" bIns="0" rtlCol="0" anchor="ctr"/>
          <a:lstStyle/>
          <a:p>
            <a:pPr indent="0" marL="0">
              <a:buNone/>
            </a:pPr>
            <a:r>
              <a:rPr lang="en-US" sz="1150" dirty="0">
                <a:solidFill>
                  <a:srgbClr val="667384"/>
                </a:solidFill>
                <a:latin typeface="Meiryo" pitchFamily="34" charset="0"/>
                <a:ea typeface="Meiryo" pitchFamily="34" charset="-122"/>
                <a:cs typeface="Meiryo" pitchFamily="34" charset="-120"/>
              </a:rPr>
              <a:t>別府／大分市周辺</a:t>
            </a:r>
            <a:endParaRPr lang="en-US" sz="1150" dirty="0"/>
          </a:p>
        </p:txBody>
      </p:sp>
      <p:sp>
        <p:nvSpPr>
          <p:cNvPr id="46" name="Text 44"/>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2A4A"/>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WHAT IS CLS ?</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Meiryo" pitchFamily="34" charset="0"/>
                <a:ea typeface="Meiryo" pitchFamily="34" charset="-122"/>
                <a:cs typeface="Meiryo" pitchFamily="34" charset="-120"/>
              </a:rPr>
              <a:t>30秒で伝えるCLS</a:t>
            </a:r>
            <a:endParaRPr lang="en-US" sz="3000" dirty="0"/>
          </a:p>
        </p:txBody>
      </p:sp>
      <p:sp>
        <p:nvSpPr>
          <p:cNvPr id="4" name="Shape 2"/>
          <p:cNvSpPr/>
          <p:nvPr/>
        </p:nvSpPr>
        <p:spPr>
          <a:xfrm>
            <a:off x="9966960" y="4206240"/>
            <a:ext cx="2926080" cy="2926080"/>
          </a:xfrm>
          <a:prstGeom prst="ellipse">
            <a:avLst/>
          </a:prstGeom>
          <a:solidFill>
            <a:srgbClr val="1E3E6B"/>
          </a:solidFill>
          <a:ln w="12700">
            <a:solidFill>
              <a:srgbClr val="333333"/>
            </a:solidFill>
            <a:prstDash val="solid"/>
          </a:ln>
        </p:spPr>
      </p:sp>
      <p:sp>
        <p:nvSpPr>
          <p:cNvPr id="5" name="Text 3"/>
          <p:cNvSpPr/>
          <p:nvPr/>
        </p:nvSpPr>
        <p:spPr>
          <a:xfrm>
            <a:off x="594360" y="1325880"/>
            <a:ext cx="1188720" cy="1371600"/>
          </a:xfrm>
          <a:prstGeom prst="rect">
            <a:avLst/>
          </a:prstGeom>
          <a:noFill/>
          <a:ln/>
        </p:spPr>
        <p:txBody>
          <a:bodyPr wrap="square" lIns="0" tIns="0" rIns="0" bIns="0" rtlCol="0" anchor="t"/>
          <a:lstStyle/>
          <a:p>
            <a:pPr indent="0" marL="0">
              <a:buNone/>
            </a:pPr>
            <a:r>
              <a:rPr lang="en-US" sz="7200" b="1" dirty="0">
                <a:solidFill>
                  <a:srgbClr val="E2703A"/>
                </a:solidFill>
                <a:latin typeface="Georgia" pitchFamily="34" charset="0"/>
                <a:ea typeface="Georgia" pitchFamily="34" charset="-122"/>
                <a:cs typeface="Georgia" pitchFamily="34" charset="-120"/>
              </a:rPr>
              <a:t>“</a:t>
            </a:r>
            <a:endParaRPr lang="en-US" sz="7200" dirty="0"/>
          </a:p>
        </p:txBody>
      </p:sp>
      <p:sp>
        <p:nvSpPr>
          <p:cNvPr id="6" name="Text 4"/>
          <p:cNvSpPr/>
          <p:nvPr/>
        </p:nvSpPr>
        <p:spPr>
          <a:xfrm>
            <a:off x="1325880" y="1600200"/>
            <a:ext cx="10241280" cy="1463040"/>
          </a:xfrm>
          <a:prstGeom prst="rect">
            <a:avLst/>
          </a:prstGeom>
          <a:noFill/>
          <a:ln/>
        </p:spPr>
        <p:txBody>
          <a:bodyPr wrap="square" lIns="0" tIns="0" rIns="0" bIns="0" rtlCol="0" anchor="ctr"/>
          <a:lstStyle/>
          <a:p>
            <a:pPr indent="0" marL="0">
              <a:lnSpc>
                <a:spcPts val="3800"/>
              </a:lnSpc>
              <a:buNone/>
            </a:pPr>
            <a:r>
              <a:rPr lang="en-US" sz="2400" b="1" dirty="0">
                <a:solidFill>
                  <a:srgbClr val="FFFFFF"/>
                </a:solidFill>
                <a:latin typeface="Meiryo" pitchFamily="34" charset="0"/>
                <a:ea typeface="Meiryo" pitchFamily="34" charset="-122"/>
                <a:cs typeface="Meiryo" pitchFamily="34" charset="-120"/>
              </a:rPr>
              <a:t>地域を本気で良くしたい「地元の挑戦者」と、全国で活躍する「外の専門家」が混ざり合い、新しいプロジェクトを生み出す実践型の合宿イベント。</a:t>
            </a:r>
            <a:endParaRPr lang="en-US" sz="2400" dirty="0"/>
          </a:p>
        </p:txBody>
      </p:sp>
      <p:sp>
        <p:nvSpPr>
          <p:cNvPr id="7" name="Text 5"/>
          <p:cNvSpPr/>
          <p:nvPr/>
        </p:nvSpPr>
        <p:spPr>
          <a:xfrm>
            <a:off x="1325880" y="3200400"/>
            <a:ext cx="10241280" cy="822960"/>
          </a:xfrm>
          <a:prstGeom prst="rect">
            <a:avLst/>
          </a:prstGeom>
          <a:noFill/>
          <a:ln/>
        </p:spPr>
        <p:txBody>
          <a:bodyPr wrap="square" lIns="0" tIns="0" rIns="0" bIns="0" rtlCol="0" anchor="ctr"/>
          <a:lstStyle/>
          <a:p>
            <a:pPr indent="0" marL="0">
              <a:lnSpc>
                <a:spcPts val="2600"/>
              </a:lnSpc>
              <a:buNone/>
            </a:pPr>
            <a:r>
              <a:rPr lang="en-US" sz="1500" dirty="0">
                <a:solidFill>
                  <a:srgbClr val="C3D1E2"/>
                </a:solidFill>
                <a:latin typeface="Meiryo" pitchFamily="34" charset="0"/>
                <a:ea typeface="Meiryo" pitchFamily="34" charset="-122"/>
                <a:cs typeface="Meiryo" pitchFamily="34" charset="-120"/>
              </a:rPr>
              <a:t>単なる講演会ではなく、全員が肩書きを捨てて本音で議論し、翌日からすぐに行動を起こすための「熱気あふれる大人の作戦会議」です。</a:t>
            </a:r>
            <a:endParaRPr lang="en-US" sz="1500" dirty="0"/>
          </a:p>
        </p:txBody>
      </p:sp>
      <p:sp>
        <p:nvSpPr>
          <p:cNvPr id="8" name="Shape 6"/>
          <p:cNvSpPr/>
          <p:nvPr/>
        </p:nvSpPr>
        <p:spPr>
          <a:xfrm>
            <a:off x="1325880" y="4343400"/>
            <a:ext cx="2377440" cy="502920"/>
          </a:xfrm>
          <a:prstGeom prst="roundRect">
            <a:avLst>
              <a:gd name="adj" fmla="val 49091"/>
            </a:avLst>
          </a:prstGeom>
          <a:solidFill>
            <a:srgbClr val="1E3E6B"/>
          </a:solidFill>
          <a:ln w="12700">
            <a:solidFill>
              <a:srgbClr val="E2703A"/>
            </a:solidFill>
            <a:prstDash val="solid"/>
          </a:ln>
        </p:spPr>
      </p:sp>
      <p:sp>
        <p:nvSpPr>
          <p:cNvPr id="9" name="Text 7"/>
          <p:cNvSpPr/>
          <p:nvPr/>
        </p:nvSpPr>
        <p:spPr>
          <a:xfrm>
            <a:off x="1325880" y="4343400"/>
            <a:ext cx="2377440" cy="502920"/>
          </a:xfrm>
          <a:prstGeom prst="rect">
            <a:avLst/>
          </a:prstGeom>
          <a:noFill/>
          <a:ln/>
        </p:spPr>
        <p:txBody>
          <a:bodyPr wrap="square" lIns="0" tIns="0" rIns="0" bIns="0" rtlCol="0" anchor="ctr"/>
          <a:lstStyle/>
          <a:p>
            <a:pPr algn="ctr" indent="0" marL="0">
              <a:buNone/>
            </a:pPr>
            <a:r>
              <a:rPr lang="en-US" sz="1350" b="1" dirty="0">
                <a:solidFill>
                  <a:srgbClr val="E2703A"/>
                </a:solidFill>
                <a:latin typeface="Meiryo" pitchFamily="34" charset="0"/>
                <a:ea typeface="Meiryo" pitchFamily="34" charset="-122"/>
                <a:cs typeface="Meiryo" pitchFamily="34" charset="-120"/>
              </a:rPr>
              <a:t>#ヤリキル</a:t>
            </a:r>
            <a:endParaRPr lang="en-US" sz="1350" dirty="0"/>
          </a:p>
        </p:txBody>
      </p:sp>
      <p:sp>
        <p:nvSpPr>
          <p:cNvPr id="10" name="Shape 8"/>
          <p:cNvSpPr/>
          <p:nvPr/>
        </p:nvSpPr>
        <p:spPr>
          <a:xfrm>
            <a:off x="3977640" y="4343400"/>
            <a:ext cx="2377440" cy="502920"/>
          </a:xfrm>
          <a:prstGeom prst="roundRect">
            <a:avLst>
              <a:gd name="adj" fmla="val 49091"/>
            </a:avLst>
          </a:prstGeom>
          <a:solidFill>
            <a:srgbClr val="1E3E6B"/>
          </a:solidFill>
          <a:ln w="12700">
            <a:solidFill>
              <a:srgbClr val="E2703A"/>
            </a:solidFill>
            <a:prstDash val="solid"/>
          </a:ln>
        </p:spPr>
      </p:sp>
      <p:sp>
        <p:nvSpPr>
          <p:cNvPr id="11" name="Text 9"/>
          <p:cNvSpPr/>
          <p:nvPr/>
        </p:nvSpPr>
        <p:spPr>
          <a:xfrm>
            <a:off x="3977640" y="4343400"/>
            <a:ext cx="2377440" cy="502920"/>
          </a:xfrm>
          <a:prstGeom prst="rect">
            <a:avLst/>
          </a:prstGeom>
          <a:noFill/>
          <a:ln/>
        </p:spPr>
        <p:txBody>
          <a:bodyPr wrap="square" lIns="0" tIns="0" rIns="0" bIns="0" rtlCol="0" anchor="ctr"/>
          <a:lstStyle/>
          <a:p>
            <a:pPr algn="ctr" indent="0" marL="0">
              <a:buNone/>
            </a:pPr>
            <a:r>
              <a:rPr lang="en-US" sz="1350" b="1" dirty="0">
                <a:solidFill>
                  <a:srgbClr val="E2703A"/>
                </a:solidFill>
                <a:latin typeface="Meiryo" pitchFamily="34" charset="0"/>
                <a:ea typeface="Meiryo" pitchFamily="34" charset="-122"/>
                <a:cs typeface="Meiryo" pitchFamily="34" charset="-120"/>
              </a:rPr>
              <a:t>#オモシロガル</a:t>
            </a:r>
            <a:endParaRPr lang="en-US" sz="1350" dirty="0"/>
          </a:p>
        </p:txBody>
      </p:sp>
      <p:sp>
        <p:nvSpPr>
          <p:cNvPr id="12" name="Shape 10"/>
          <p:cNvSpPr/>
          <p:nvPr/>
        </p:nvSpPr>
        <p:spPr>
          <a:xfrm>
            <a:off x="6629400" y="4343400"/>
            <a:ext cx="2377440" cy="502920"/>
          </a:xfrm>
          <a:prstGeom prst="roundRect">
            <a:avLst>
              <a:gd name="adj" fmla="val 49091"/>
            </a:avLst>
          </a:prstGeom>
          <a:solidFill>
            <a:srgbClr val="1E3E6B"/>
          </a:solidFill>
          <a:ln w="12700">
            <a:solidFill>
              <a:srgbClr val="E2703A"/>
            </a:solidFill>
            <a:prstDash val="solid"/>
          </a:ln>
        </p:spPr>
      </p:sp>
      <p:sp>
        <p:nvSpPr>
          <p:cNvPr id="13" name="Text 11"/>
          <p:cNvSpPr/>
          <p:nvPr/>
        </p:nvSpPr>
        <p:spPr>
          <a:xfrm>
            <a:off x="6629400" y="4343400"/>
            <a:ext cx="2377440" cy="502920"/>
          </a:xfrm>
          <a:prstGeom prst="rect">
            <a:avLst/>
          </a:prstGeom>
          <a:noFill/>
          <a:ln/>
        </p:spPr>
        <p:txBody>
          <a:bodyPr wrap="square" lIns="0" tIns="0" rIns="0" bIns="0" rtlCol="0" anchor="ctr"/>
          <a:lstStyle/>
          <a:p>
            <a:pPr algn="ctr" indent="0" marL="0">
              <a:buNone/>
            </a:pPr>
            <a:r>
              <a:rPr lang="en-US" sz="1350" b="1" dirty="0">
                <a:solidFill>
                  <a:srgbClr val="E2703A"/>
                </a:solidFill>
                <a:latin typeface="Meiryo" pitchFamily="34" charset="0"/>
                <a:ea typeface="Meiryo" pitchFamily="34" charset="-122"/>
                <a:cs typeface="Meiryo" pitchFamily="34" charset="-120"/>
              </a:rPr>
              <a:t>#きっかけはCLS</a:t>
            </a:r>
            <a:endParaRPr lang="en-US" sz="1350" dirty="0"/>
          </a:p>
        </p:txBody>
      </p:sp>
      <p:sp>
        <p:nvSpPr>
          <p:cNvPr id="14" name="Text 12"/>
          <p:cNvSpPr/>
          <p:nvPr/>
        </p:nvSpPr>
        <p:spPr>
          <a:xfrm>
            <a:off x="640080" y="5257800"/>
            <a:ext cx="10515600" cy="365760"/>
          </a:xfrm>
          <a:prstGeom prst="rect">
            <a:avLst/>
          </a:prstGeom>
          <a:noFill/>
          <a:ln/>
        </p:spPr>
        <p:txBody>
          <a:bodyPr wrap="square" lIns="0" tIns="0" rIns="0" bIns="0" rtlCol="0" anchor="ctr"/>
          <a:lstStyle/>
          <a:p>
            <a:pPr indent="0" marL="0">
              <a:buNone/>
            </a:pPr>
            <a:r>
              <a:rPr lang="en-US" sz="1200" dirty="0">
                <a:solidFill>
                  <a:srgbClr val="8FA3BD"/>
                </a:solidFill>
                <a:latin typeface="Meiryo" pitchFamily="34" charset="0"/>
                <a:ea typeface="Meiryo" pitchFamily="34" charset="-122"/>
                <a:cs typeface="Meiryo" pitchFamily="34" charset="-120"/>
              </a:rPr>
              <a:t>専門用語を排し、相手の立場に立った直感的な言語化が、勧誘と協賛の出発点になる。</a:t>
            </a:r>
            <a:endParaRPr lang="en-US" sz="1200" dirty="0"/>
          </a:p>
        </p:txBody>
      </p:sp>
      <p:sp>
        <p:nvSpPr>
          <p:cNvPr id="15" name="Text 13"/>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HISTORY</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CLS高知から始まったムーブメントの系譜</a:t>
            </a:r>
            <a:endParaRPr lang="en-US" sz="3000" dirty="0"/>
          </a:p>
        </p:txBody>
      </p:sp>
      <p:sp>
        <p:nvSpPr>
          <p:cNvPr id="4" name="Text 2"/>
          <p:cNvSpPr/>
          <p:nvPr/>
        </p:nvSpPr>
        <p:spPr>
          <a:xfrm>
            <a:off x="640080" y="1298448"/>
            <a:ext cx="10881360" cy="384048"/>
          </a:xfrm>
          <a:prstGeom prst="rect">
            <a:avLst/>
          </a:prstGeom>
          <a:noFill/>
          <a:ln/>
        </p:spPr>
        <p:txBody>
          <a:bodyPr wrap="square" lIns="0" tIns="0" rIns="0" bIns="0" rtlCol="0" anchor="ctr"/>
          <a:lstStyle/>
          <a:p>
            <a:pPr indent="0" marL="0">
              <a:buNone/>
            </a:pPr>
            <a:r>
              <a:rPr lang="en-US" sz="1250" dirty="0">
                <a:solidFill>
                  <a:srgbClr val="667384"/>
                </a:solidFill>
                <a:latin typeface="Meiryo" pitchFamily="34" charset="0"/>
                <a:ea typeface="Meiryo" pitchFamily="34" charset="-122"/>
                <a:cs typeface="Meiryo" pitchFamily="34" charset="-120"/>
              </a:rPr>
              <a:t>2017年の尾崎高知県知事×小島英揮氏の対談を起点に、行政主導から民間自立へ。環境変化への適応を重ね、全国へ波及した。</a:t>
            </a:r>
            <a:endParaRPr lang="en-US" sz="1250" dirty="0"/>
          </a:p>
        </p:txBody>
      </p:sp>
      <p:sp>
        <p:nvSpPr>
          <p:cNvPr id="5" name="Shape 3"/>
          <p:cNvSpPr/>
          <p:nvPr/>
        </p:nvSpPr>
        <p:spPr>
          <a:xfrm>
            <a:off x="914400" y="1874520"/>
            <a:ext cx="10332720" cy="0"/>
          </a:xfrm>
          <a:prstGeom prst="line">
            <a:avLst/>
          </a:prstGeom>
          <a:noFill/>
          <a:ln w="25400">
            <a:solidFill>
              <a:srgbClr val="DCE4ED"/>
            </a:solidFill>
            <a:prstDash val="solid"/>
          </a:ln>
        </p:spPr>
      </p:sp>
      <p:sp>
        <p:nvSpPr>
          <p:cNvPr id="6" name="Shape 4"/>
          <p:cNvSpPr/>
          <p:nvPr/>
        </p:nvSpPr>
        <p:spPr>
          <a:xfrm>
            <a:off x="1815084" y="1700784"/>
            <a:ext cx="347472" cy="347472"/>
          </a:xfrm>
          <a:prstGeom prst="ellipse">
            <a:avLst/>
          </a:prstGeom>
          <a:solidFill>
            <a:srgbClr val="132A4A"/>
          </a:solidFill>
          <a:ln w="12700">
            <a:solidFill>
              <a:srgbClr val="132A4A"/>
            </a:solidFill>
            <a:prstDash val="solid"/>
          </a:ln>
        </p:spPr>
      </p:sp>
      <p:sp>
        <p:nvSpPr>
          <p:cNvPr id="7" name="Text 5"/>
          <p:cNvSpPr/>
          <p:nvPr/>
        </p:nvSpPr>
        <p:spPr>
          <a:xfrm>
            <a:off x="1815084" y="17007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8" name="Shape 6"/>
          <p:cNvSpPr/>
          <p:nvPr/>
        </p:nvSpPr>
        <p:spPr>
          <a:xfrm>
            <a:off x="640080" y="2286000"/>
            <a:ext cx="2697480" cy="2880360"/>
          </a:xfrm>
          <a:prstGeom prst="roundRect">
            <a:avLst>
              <a:gd name="adj" fmla="val 2712"/>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9" name="Text 7"/>
          <p:cNvSpPr/>
          <p:nvPr/>
        </p:nvSpPr>
        <p:spPr>
          <a:xfrm>
            <a:off x="841248" y="2468880"/>
            <a:ext cx="2295144" cy="292608"/>
          </a:xfrm>
          <a:prstGeom prst="rect">
            <a:avLst/>
          </a:prstGeom>
          <a:noFill/>
          <a:ln/>
        </p:spPr>
        <p:txBody>
          <a:bodyPr wrap="square" lIns="0" tIns="0" rIns="0" bIns="0" rtlCol="0" anchor="ctr"/>
          <a:lstStyle/>
          <a:p>
            <a:pPr indent="0" marL="0">
              <a:buNone/>
            </a:pPr>
            <a:r>
              <a:rPr lang="en-US" sz="1500" b="1" dirty="0">
                <a:solidFill>
                  <a:srgbClr val="132A4A"/>
                </a:solidFill>
                <a:latin typeface="Meiryo" pitchFamily="34" charset="0"/>
                <a:ea typeface="Meiryo" pitchFamily="34" charset="-122"/>
                <a:cs typeface="Meiryo" pitchFamily="34" charset="-120"/>
              </a:rPr>
              <a:t>創生期</a:t>
            </a:r>
            <a:endParaRPr lang="en-US" sz="1500" dirty="0"/>
          </a:p>
        </p:txBody>
      </p:sp>
      <p:sp>
        <p:nvSpPr>
          <p:cNvPr id="10" name="Text 8"/>
          <p:cNvSpPr/>
          <p:nvPr/>
        </p:nvSpPr>
        <p:spPr>
          <a:xfrm>
            <a:off x="841248" y="2807208"/>
            <a:ext cx="2295144" cy="548640"/>
          </a:xfrm>
          <a:prstGeom prst="rect">
            <a:avLst/>
          </a:prstGeom>
          <a:noFill/>
          <a:ln/>
        </p:spPr>
        <p:txBody>
          <a:bodyPr wrap="square" lIns="0" tIns="0" rIns="0" bIns="0" rtlCol="0" anchor="ctr"/>
          <a:lstStyle/>
          <a:p>
            <a:pPr indent="0" marL="0">
              <a:lnSpc>
                <a:spcPts val="1600"/>
              </a:lnSpc>
              <a:buNone/>
            </a:pPr>
            <a:r>
              <a:rPr lang="en-US" sz="1100" dirty="0">
                <a:solidFill>
                  <a:srgbClr val="667384"/>
                </a:solidFill>
                <a:latin typeface="Meiryo" pitchFamily="34" charset="0"/>
                <a:ea typeface="Meiryo" pitchFamily="34" charset="-122"/>
                <a:cs typeface="Meiryo" pitchFamily="34" charset="-120"/>
              </a:rPr>
              <a:t>2017年対談〜2018年</a:t>
            </a:r>
            <a:endParaRPr lang="en-US" sz="1100" dirty="0"/>
          </a:p>
          <a:p>
            <a:pPr indent="0" marL="0">
              <a:lnSpc>
                <a:spcPts val="1600"/>
              </a:lnSpc>
              <a:buNone/>
            </a:pPr>
            <a:r>
              <a:rPr lang="en-US" sz="1100" dirty="0">
                <a:solidFill>
                  <a:srgbClr val="667384"/>
                </a:solidFill>
                <a:latin typeface="Meiryo" pitchFamily="34" charset="0"/>
                <a:ea typeface="Meiryo" pitchFamily="34" charset="-122"/>
                <a:cs typeface="Meiryo" pitchFamily="34" charset="-120"/>
              </a:rPr>
              <a:t>（第1・2回）</a:t>
            </a:r>
            <a:endParaRPr lang="en-US" sz="1100" dirty="0"/>
          </a:p>
        </p:txBody>
      </p:sp>
      <p:sp>
        <p:nvSpPr>
          <p:cNvPr id="11" name="Text 9"/>
          <p:cNvSpPr/>
          <p:nvPr/>
        </p:nvSpPr>
        <p:spPr>
          <a:xfrm>
            <a:off x="841248" y="3429000"/>
            <a:ext cx="2295144" cy="1554480"/>
          </a:xfrm>
          <a:prstGeom prst="rect">
            <a:avLst/>
          </a:prstGeom>
          <a:noFill/>
          <a:ln/>
        </p:spPr>
        <p:txBody>
          <a:bodyPr wrap="square" lIns="0" tIns="0" rIns="0" bIns="0" rtlCol="0" anchor="t"/>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行政の資金と信頼を活用したゼロイチの立ち上げ。課題先進県・高知という舞台設定の確立。</a:t>
            </a:r>
            <a:endParaRPr lang="en-US" sz="1200" dirty="0"/>
          </a:p>
        </p:txBody>
      </p:sp>
      <p:sp>
        <p:nvSpPr>
          <p:cNvPr id="12" name="Shape 10"/>
          <p:cNvSpPr/>
          <p:nvPr/>
        </p:nvSpPr>
        <p:spPr>
          <a:xfrm>
            <a:off x="4686300" y="1700784"/>
            <a:ext cx="347472" cy="347472"/>
          </a:xfrm>
          <a:prstGeom prst="ellipse">
            <a:avLst/>
          </a:prstGeom>
          <a:solidFill>
            <a:srgbClr val="132A4A"/>
          </a:solidFill>
          <a:ln w="12700">
            <a:solidFill>
              <a:srgbClr val="132A4A"/>
            </a:solidFill>
            <a:prstDash val="solid"/>
          </a:ln>
        </p:spPr>
      </p:sp>
      <p:sp>
        <p:nvSpPr>
          <p:cNvPr id="13" name="Text 11"/>
          <p:cNvSpPr/>
          <p:nvPr/>
        </p:nvSpPr>
        <p:spPr>
          <a:xfrm>
            <a:off x="4686300" y="17007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14" name="Shape 12"/>
          <p:cNvSpPr/>
          <p:nvPr/>
        </p:nvSpPr>
        <p:spPr>
          <a:xfrm>
            <a:off x="3511296" y="2286000"/>
            <a:ext cx="2697480" cy="2880360"/>
          </a:xfrm>
          <a:prstGeom prst="roundRect">
            <a:avLst>
              <a:gd name="adj" fmla="val 2712"/>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5" name="Text 13"/>
          <p:cNvSpPr/>
          <p:nvPr/>
        </p:nvSpPr>
        <p:spPr>
          <a:xfrm>
            <a:off x="3712464" y="2468880"/>
            <a:ext cx="2295144" cy="292608"/>
          </a:xfrm>
          <a:prstGeom prst="rect">
            <a:avLst/>
          </a:prstGeom>
          <a:noFill/>
          <a:ln/>
        </p:spPr>
        <p:txBody>
          <a:bodyPr wrap="square" lIns="0" tIns="0" rIns="0" bIns="0" rtlCol="0" anchor="ctr"/>
          <a:lstStyle/>
          <a:p>
            <a:pPr indent="0" marL="0">
              <a:buNone/>
            </a:pPr>
            <a:r>
              <a:rPr lang="en-US" sz="1500" b="1" dirty="0">
                <a:solidFill>
                  <a:srgbClr val="132A4A"/>
                </a:solidFill>
                <a:latin typeface="Meiryo" pitchFamily="34" charset="0"/>
                <a:ea typeface="Meiryo" pitchFamily="34" charset="-122"/>
                <a:cs typeface="Meiryo" pitchFamily="34" charset="-120"/>
              </a:rPr>
              <a:t>自立・適応期</a:t>
            </a:r>
            <a:endParaRPr lang="en-US" sz="1500" dirty="0"/>
          </a:p>
        </p:txBody>
      </p:sp>
      <p:sp>
        <p:nvSpPr>
          <p:cNvPr id="16" name="Text 14"/>
          <p:cNvSpPr/>
          <p:nvPr/>
        </p:nvSpPr>
        <p:spPr>
          <a:xfrm>
            <a:off x="3712464" y="2807208"/>
            <a:ext cx="2295144" cy="548640"/>
          </a:xfrm>
          <a:prstGeom prst="rect">
            <a:avLst/>
          </a:prstGeom>
          <a:noFill/>
          <a:ln/>
        </p:spPr>
        <p:txBody>
          <a:bodyPr wrap="square" lIns="0" tIns="0" rIns="0" bIns="0" rtlCol="0" anchor="ctr"/>
          <a:lstStyle/>
          <a:p>
            <a:pPr indent="0" marL="0">
              <a:lnSpc>
                <a:spcPts val="1600"/>
              </a:lnSpc>
              <a:buNone/>
            </a:pPr>
            <a:r>
              <a:rPr lang="en-US" sz="1100" dirty="0">
                <a:solidFill>
                  <a:srgbClr val="667384"/>
                </a:solidFill>
                <a:latin typeface="Meiryo" pitchFamily="34" charset="0"/>
                <a:ea typeface="Meiryo" pitchFamily="34" charset="-122"/>
                <a:cs typeface="Meiryo" pitchFamily="34" charset="-120"/>
              </a:rPr>
              <a:t>2019年〜コロナ禍</a:t>
            </a:r>
            <a:endParaRPr lang="en-US" sz="1100" dirty="0"/>
          </a:p>
          <a:p>
            <a:pPr indent="0" marL="0">
              <a:lnSpc>
                <a:spcPts val="1600"/>
              </a:lnSpc>
              <a:buNone/>
            </a:pPr>
            <a:r>
              <a:rPr lang="en-US" sz="1100" dirty="0">
                <a:solidFill>
                  <a:srgbClr val="667384"/>
                </a:solidFill>
                <a:latin typeface="Meiryo" pitchFamily="34" charset="0"/>
                <a:ea typeface="Meiryo" pitchFamily="34" charset="-122"/>
                <a:cs typeface="Meiryo" pitchFamily="34" charset="-120"/>
              </a:rPr>
              <a:t>（第3〜6回）</a:t>
            </a:r>
            <a:endParaRPr lang="en-US" sz="1100" dirty="0"/>
          </a:p>
        </p:txBody>
      </p:sp>
      <p:sp>
        <p:nvSpPr>
          <p:cNvPr id="17" name="Text 15"/>
          <p:cNvSpPr/>
          <p:nvPr/>
        </p:nvSpPr>
        <p:spPr>
          <a:xfrm>
            <a:off x="3712464" y="3429000"/>
            <a:ext cx="2295144" cy="1554480"/>
          </a:xfrm>
          <a:prstGeom prst="rect">
            <a:avLst/>
          </a:prstGeom>
          <a:noFill/>
          <a:ln/>
        </p:spPr>
        <p:txBody>
          <a:bodyPr wrap="square" lIns="0" tIns="0" rIns="0" bIns="0" rtlCol="0" anchor="t"/>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行政からの独立。有志による資金調達と、オンライン／ハイブリッドへの適応で「熱量」を維持。</a:t>
            </a:r>
            <a:endParaRPr lang="en-US" sz="1200" dirty="0"/>
          </a:p>
        </p:txBody>
      </p:sp>
      <p:sp>
        <p:nvSpPr>
          <p:cNvPr id="18" name="Shape 16"/>
          <p:cNvSpPr/>
          <p:nvPr/>
        </p:nvSpPr>
        <p:spPr>
          <a:xfrm>
            <a:off x="7557516" y="1700784"/>
            <a:ext cx="347472" cy="347472"/>
          </a:xfrm>
          <a:prstGeom prst="ellipse">
            <a:avLst/>
          </a:prstGeom>
          <a:solidFill>
            <a:srgbClr val="132A4A"/>
          </a:solidFill>
          <a:ln w="12700">
            <a:solidFill>
              <a:srgbClr val="132A4A"/>
            </a:solidFill>
            <a:prstDash val="solid"/>
          </a:ln>
        </p:spPr>
      </p:sp>
      <p:sp>
        <p:nvSpPr>
          <p:cNvPr id="19" name="Text 17"/>
          <p:cNvSpPr/>
          <p:nvPr/>
        </p:nvSpPr>
        <p:spPr>
          <a:xfrm>
            <a:off x="7557516" y="17007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20" name="Shape 18"/>
          <p:cNvSpPr/>
          <p:nvPr/>
        </p:nvSpPr>
        <p:spPr>
          <a:xfrm>
            <a:off x="6382512" y="2286000"/>
            <a:ext cx="2697480" cy="2880360"/>
          </a:xfrm>
          <a:prstGeom prst="roundRect">
            <a:avLst>
              <a:gd name="adj" fmla="val 2712"/>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21" name="Text 19"/>
          <p:cNvSpPr/>
          <p:nvPr/>
        </p:nvSpPr>
        <p:spPr>
          <a:xfrm>
            <a:off x="6583680" y="2468880"/>
            <a:ext cx="2295144" cy="292608"/>
          </a:xfrm>
          <a:prstGeom prst="rect">
            <a:avLst/>
          </a:prstGeom>
          <a:noFill/>
          <a:ln/>
        </p:spPr>
        <p:txBody>
          <a:bodyPr wrap="square" lIns="0" tIns="0" rIns="0" bIns="0" rtlCol="0" anchor="ctr"/>
          <a:lstStyle/>
          <a:p>
            <a:pPr indent="0" marL="0">
              <a:buNone/>
            </a:pPr>
            <a:r>
              <a:rPr lang="en-US" sz="1500" b="1" dirty="0">
                <a:solidFill>
                  <a:srgbClr val="132A4A"/>
                </a:solidFill>
                <a:latin typeface="Meiryo" pitchFamily="34" charset="0"/>
                <a:ea typeface="Meiryo" pitchFamily="34" charset="-122"/>
                <a:cs typeface="Meiryo" pitchFamily="34" charset="-120"/>
              </a:rPr>
              <a:t>拡張・承継期</a:t>
            </a:r>
            <a:endParaRPr lang="en-US" sz="1500" dirty="0"/>
          </a:p>
        </p:txBody>
      </p:sp>
      <p:sp>
        <p:nvSpPr>
          <p:cNvPr id="22" name="Text 20"/>
          <p:cNvSpPr/>
          <p:nvPr/>
        </p:nvSpPr>
        <p:spPr>
          <a:xfrm>
            <a:off x="6583680" y="2807208"/>
            <a:ext cx="2295144" cy="548640"/>
          </a:xfrm>
          <a:prstGeom prst="rect">
            <a:avLst/>
          </a:prstGeom>
          <a:noFill/>
          <a:ln/>
        </p:spPr>
        <p:txBody>
          <a:bodyPr wrap="square" lIns="0" tIns="0" rIns="0" bIns="0" rtlCol="0" anchor="ctr"/>
          <a:lstStyle/>
          <a:p>
            <a:pPr indent="0" marL="0">
              <a:lnSpc>
                <a:spcPts val="1600"/>
              </a:lnSpc>
              <a:buNone/>
            </a:pPr>
            <a:r>
              <a:rPr lang="en-US" sz="1100" dirty="0">
                <a:solidFill>
                  <a:srgbClr val="667384"/>
                </a:solidFill>
                <a:latin typeface="Meiryo" pitchFamily="34" charset="0"/>
                <a:ea typeface="Meiryo" pitchFamily="34" charset="-122"/>
                <a:cs typeface="Meiryo" pitchFamily="34" charset="-120"/>
              </a:rPr>
              <a:t>2021年〜2024年</a:t>
            </a:r>
            <a:endParaRPr lang="en-US" sz="1100" dirty="0"/>
          </a:p>
          <a:p>
            <a:pPr indent="0" marL="0">
              <a:lnSpc>
                <a:spcPts val="1600"/>
              </a:lnSpc>
              <a:buNone/>
            </a:pPr>
            <a:r>
              <a:rPr lang="en-US" sz="1100" dirty="0">
                <a:solidFill>
                  <a:srgbClr val="667384"/>
                </a:solidFill>
                <a:latin typeface="Meiryo" pitchFamily="34" charset="0"/>
                <a:ea typeface="Meiryo" pitchFamily="34" charset="-122"/>
                <a:cs typeface="Meiryo" pitchFamily="34" charset="-120"/>
              </a:rPr>
              <a:t>（第7回〜法人化）</a:t>
            </a:r>
            <a:endParaRPr lang="en-US" sz="1100" dirty="0"/>
          </a:p>
        </p:txBody>
      </p:sp>
      <p:sp>
        <p:nvSpPr>
          <p:cNvPr id="23" name="Text 21"/>
          <p:cNvSpPr/>
          <p:nvPr/>
        </p:nvSpPr>
        <p:spPr>
          <a:xfrm>
            <a:off x="6583680" y="3429000"/>
            <a:ext cx="2295144" cy="1554480"/>
          </a:xfrm>
          <a:prstGeom prst="rect">
            <a:avLst/>
          </a:prstGeom>
          <a:noFill/>
          <a:ln/>
        </p:spPr>
        <p:txBody>
          <a:bodyPr wrap="square" lIns="0" tIns="0" rIns="0" bIns="0" rtlCol="0" anchor="t"/>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ワーケーション導入で体験価値を最大化。一般社団法人化により永続性を獲得し世代交代。</a:t>
            </a:r>
            <a:endParaRPr lang="en-US" sz="1200" dirty="0"/>
          </a:p>
        </p:txBody>
      </p:sp>
      <p:sp>
        <p:nvSpPr>
          <p:cNvPr id="24" name="Shape 22"/>
          <p:cNvSpPr/>
          <p:nvPr/>
        </p:nvSpPr>
        <p:spPr>
          <a:xfrm>
            <a:off x="10428732" y="1700784"/>
            <a:ext cx="347472" cy="347472"/>
          </a:xfrm>
          <a:prstGeom prst="ellipse">
            <a:avLst/>
          </a:prstGeom>
          <a:solidFill>
            <a:srgbClr val="E2703A"/>
          </a:solidFill>
          <a:ln w="12700">
            <a:solidFill>
              <a:srgbClr val="E2703A"/>
            </a:solidFill>
            <a:prstDash val="solid"/>
          </a:ln>
        </p:spPr>
      </p:sp>
      <p:sp>
        <p:nvSpPr>
          <p:cNvPr id="25" name="Text 23"/>
          <p:cNvSpPr/>
          <p:nvPr/>
        </p:nvSpPr>
        <p:spPr>
          <a:xfrm>
            <a:off x="10428732" y="17007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26" name="Shape 24"/>
          <p:cNvSpPr/>
          <p:nvPr/>
        </p:nvSpPr>
        <p:spPr>
          <a:xfrm>
            <a:off x="9253728" y="2286000"/>
            <a:ext cx="2697480" cy="2880360"/>
          </a:xfrm>
          <a:prstGeom prst="roundRect">
            <a:avLst>
              <a:gd name="adj" fmla="val 2712"/>
            </a:avLst>
          </a:prstGeom>
          <a:solidFill>
            <a:srgbClr val="F6E3D6"/>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27" name="Text 25"/>
          <p:cNvSpPr/>
          <p:nvPr/>
        </p:nvSpPr>
        <p:spPr>
          <a:xfrm>
            <a:off x="9454896" y="2468880"/>
            <a:ext cx="2295144" cy="292608"/>
          </a:xfrm>
          <a:prstGeom prst="rect">
            <a:avLst/>
          </a:prstGeom>
          <a:noFill/>
          <a:ln/>
        </p:spPr>
        <p:txBody>
          <a:bodyPr wrap="square" lIns="0" tIns="0" rIns="0" bIns="0" rtlCol="0" anchor="ctr"/>
          <a:lstStyle/>
          <a:p>
            <a:pPr indent="0" marL="0">
              <a:buNone/>
            </a:pPr>
            <a:r>
              <a:rPr lang="en-US" sz="1500" b="1" dirty="0">
                <a:solidFill>
                  <a:srgbClr val="E2703A"/>
                </a:solidFill>
                <a:latin typeface="Meiryo" pitchFamily="34" charset="0"/>
                <a:ea typeface="Meiryo" pitchFamily="34" charset="-122"/>
                <a:cs typeface="Meiryo" pitchFamily="34" charset="-120"/>
              </a:rPr>
              <a:t>全国波及期</a:t>
            </a:r>
            <a:endParaRPr lang="en-US" sz="1500" dirty="0"/>
          </a:p>
        </p:txBody>
      </p:sp>
      <p:sp>
        <p:nvSpPr>
          <p:cNvPr id="28" name="Text 26"/>
          <p:cNvSpPr/>
          <p:nvPr/>
        </p:nvSpPr>
        <p:spPr>
          <a:xfrm>
            <a:off x="9454896" y="2807208"/>
            <a:ext cx="2295144" cy="548640"/>
          </a:xfrm>
          <a:prstGeom prst="rect">
            <a:avLst/>
          </a:prstGeom>
          <a:noFill/>
          <a:ln/>
        </p:spPr>
        <p:txBody>
          <a:bodyPr wrap="square" lIns="0" tIns="0" rIns="0" bIns="0" rtlCol="0" anchor="ctr"/>
          <a:lstStyle/>
          <a:p>
            <a:pPr indent="0" marL="0">
              <a:lnSpc>
                <a:spcPts val="1600"/>
              </a:lnSpc>
              <a:buNone/>
            </a:pPr>
            <a:r>
              <a:rPr lang="en-US" sz="1100" dirty="0">
                <a:solidFill>
                  <a:srgbClr val="667384"/>
                </a:solidFill>
                <a:latin typeface="Meiryo" pitchFamily="34" charset="0"/>
                <a:ea typeface="Meiryo" pitchFamily="34" charset="-122"/>
                <a:cs typeface="Meiryo" pitchFamily="34" charset="-120"/>
              </a:rPr>
              <a:t>2024年〜2026年</a:t>
            </a:r>
            <a:endParaRPr lang="en-US" sz="1100" dirty="0"/>
          </a:p>
          <a:p>
            <a:pPr indent="0" marL="0">
              <a:lnSpc>
                <a:spcPts val="1600"/>
              </a:lnSpc>
              <a:buNone/>
            </a:pPr>
            <a:r>
              <a:rPr lang="en-US" sz="1100" dirty="0">
                <a:solidFill>
                  <a:srgbClr val="667384"/>
                </a:solidFill>
                <a:latin typeface="Meiryo" pitchFamily="34" charset="0"/>
                <a:ea typeface="Meiryo" pitchFamily="34" charset="-122"/>
                <a:cs typeface="Meiryo" pitchFamily="34" charset="-120"/>
              </a:rPr>
              <a:t>（出島・別府・東京）</a:t>
            </a:r>
            <a:endParaRPr lang="en-US" sz="1100" dirty="0"/>
          </a:p>
        </p:txBody>
      </p:sp>
      <p:sp>
        <p:nvSpPr>
          <p:cNvPr id="29" name="Text 27"/>
          <p:cNvSpPr/>
          <p:nvPr/>
        </p:nvSpPr>
        <p:spPr>
          <a:xfrm>
            <a:off x="9454896" y="3429000"/>
            <a:ext cx="2295144" cy="1554480"/>
          </a:xfrm>
          <a:prstGeom prst="rect">
            <a:avLst/>
          </a:prstGeom>
          <a:noFill/>
          <a:ln/>
        </p:spPr>
        <p:txBody>
          <a:bodyPr wrap="square" lIns="0" tIns="0" rIns="0" bIns="0" rtlCol="0" anchor="t"/>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長崎・大分への水平展開。2026年10月には東京で500名規模の逆輸入開催を予定。</a:t>
            </a:r>
            <a:endParaRPr lang="en-US" sz="1200" dirty="0"/>
          </a:p>
        </p:txBody>
      </p:sp>
      <p:sp>
        <p:nvSpPr>
          <p:cNvPr id="30" name="Text 28"/>
          <p:cNvSpPr/>
          <p:nvPr/>
        </p:nvSpPr>
        <p:spPr>
          <a:xfrm>
            <a:off x="640080" y="5440680"/>
            <a:ext cx="10881360" cy="365760"/>
          </a:xfrm>
          <a:prstGeom prst="rect">
            <a:avLst/>
          </a:prstGeom>
          <a:noFill/>
          <a:ln/>
        </p:spPr>
        <p:txBody>
          <a:bodyPr wrap="square" lIns="0" tIns="0" rIns="0" bIns="0" rtlCol="0" anchor="ctr"/>
          <a:lstStyle/>
          <a:p>
            <a:pPr indent="0" marL="0">
              <a:buNone/>
            </a:pPr>
            <a:r>
              <a:rPr lang="en-US" sz="1200" dirty="0">
                <a:solidFill>
                  <a:srgbClr val="667384"/>
                </a:solidFill>
                <a:latin typeface="Meiryo" pitchFamily="34" charset="0"/>
                <a:ea typeface="Meiryo" pitchFamily="34" charset="-122"/>
                <a:cs typeface="Meiryo" pitchFamily="34" charset="-120"/>
              </a:rPr>
              <a:t>参加者200名規模／チケットは2時間で完売　→　2024年4月に一般社団法人CLS高知を設立、若手世代へのバトンタッチが完了。</a:t>
            </a:r>
            <a:endParaRPr lang="en-US" sz="1200" dirty="0"/>
          </a:p>
        </p:txBody>
      </p:sp>
      <p:sp>
        <p:nvSpPr>
          <p:cNvPr id="31" name="Text 29"/>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VALUE</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CLSが参加者に提供している3つの価値</a:t>
            </a:r>
            <a:endParaRPr lang="en-US" sz="3000" dirty="0"/>
          </a:p>
        </p:txBody>
      </p:sp>
      <p:sp>
        <p:nvSpPr>
          <p:cNvPr id="4" name="Text 2"/>
          <p:cNvSpPr/>
          <p:nvPr/>
        </p:nvSpPr>
        <p:spPr>
          <a:xfrm>
            <a:off x="640080" y="1298448"/>
            <a:ext cx="10881360" cy="365760"/>
          </a:xfrm>
          <a:prstGeom prst="rect">
            <a:avLst/>
          </a:prstGeom>
          <a:noFill/>
          <a:ln/>
        </p:spPr>
        <p:txBody>
          <a:bodyPr wrap="square" lIns="0" tIns="0" rIns="0" bIns="0" rtlCol="0" anchor="ctr"/>
          <a:lstStyle/>
          <a:p>
            <a:pPr indent="0" marL="0">
              <a:buNone/>
            </a:pPr>
            <a:r>
              <a:rPr lang="en-US" sz="1250" dirty="0">
                <a:solidFill>
                  <a:srgbClr val="667384"/>
                </a:solidFill>
                <a:latin typeface="Meiryo" pitchFamily="34" charset="0"/>
                <a:ea typeface="Meiryo" pitchFamily="34" charset="-122"/>
                <a:cs typeface="Meiryo" pitchFamily="34" charset="-120"/>
              </a:rPr>
              <a:t>有識者が一方的に知識を伝える従来型カンファレンスとは、構造そのものが異なる。</a:t>
            </a:r>
            <a:endParaRPr lang="en-US" sz="1250" dirty="0"/>
          </a:p>
        </p:txBody>
      </p:sp>
      <p:sp>
        <p:nvSpPr>
          <p:cNvPr id="5" name="Shape 3"/>
          <p:cNvSpPr/>
          <p:nvPr/>
        </p:nvSpPr>
        <p:spPr>
          <a:xfrm>
            <a:off x="640080" y="1828800"/>
            <a:ext cx="3566160" cy="3520440"/>
          </a:xfrm>
          <a:prstGeom prst="roundRect">
            <a:avLst>
              <a:gd name="adj" fmla="val 2078"/>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6" name="Shape 4"/>
          <p:cNvSpPr/>
          <p:nvPr/>
        </p:nvSpPr>
        <p:spPr>
          <a:xfrm>
            <a:off x="932688" y="2103120"/>
            <a:ext cx="640080" cy="640080"/>
          </a:xfrm>
          <a:prstGeom prst="ellipse">
            <a:avLst/>
          </a:prstGeom>
          <a:solidFill>
            <a:srgbClr val="E2703A"/>
          </a:solidFill>
          <a:ln w="12700">
            <a:solidFill>
              <a:srgbClr val="E2703A"/>
            </a:solidFill>
            <a:prstDash val="solid"/>
          </a:ln>
        </p:spPr>
      </p:sp>
      <p:sp>
        <p:nvSpPr>
          <p:cNvPr id="7" name="Text 5"/>
          <p:cNvSpPr/>
          <p:nvPr/>
        </p:nvSpPr>
        <p:spPr>
          <a:xfrm>
            <a:off x="932688" y="210312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越境</a:t>
            </a:r>
            <a:endParaRPr lang="en-US" sz="1700" dirty="0"/>
          </a:p>
        </p:txBody>
      </p:sp>
      <p:sp>
        <p:nvSpPr>
          <p:cNvPr id="8" name="Text 6"/>
          <p:cNvSpPr/>
          <p:nvPr/>
        </p:nvSpPr>
        <p:spPr>
          <a:xfrm>
            <a:off x="932688" y="2907792"/>
            <a:ext cx="2980944" cy="868680"/>
          </a:xfrm>
          <a:prstGeom prst="rect">
            <a:avLst/>
          </a:prstGeom>
          <a:noFill/>
          <a:ln/>
        </p:spPr>
        <p:txBody>
          <a:bodyPr wrap="square" lIns="0" tIns="0" rIns="0" bIns="0" rtlCol="0" anchor="t"/>
          <a:lstStyle/>
          <a:p>
            <a:pPr indent="0" marL="0">
              <a:lnSpc>
                <a:spcPts val="2500"/>
              </a:lnSpc>
              <a:buNone/>
            </a:pPr>
            <a:r>
              <a:rPr lang="en-US" sz="1700" b="1" dirty="0">
                <a:solidFill>
                  <a:srgbClr val="132A4A"/>
                </a:solidFill>
                <a:latin typeface="Meiryo" pitchFamily="34" charset="0"/>
                <a:ea typeface="Meiryo" pitchFamily="34" charset="-122"/>
                <a:cs typeface="Meiryo" pitchFamily="34" charset="-120"/>
              </a:rPr>
              <a:t>外側のモノサシで</a:t>
            </a:r>
            <a:endParaRPr lang="en-US" sz="1700" dirty="0"/>
          </a:p>
          <a:p>
            <a:pPr indent="0" marL="0">
              <a:lnSpc>
                <a:spcPts val="2500"/>
              </a:lnSpc>
              <a:buNone/>
            </a:pPr>
            <a:r>
              <a:rPr lang="en-US" sz="1700" b="1" dirty="0">
                <a:solidFill>
                  <a:srgbClr val="132A4A"/>
                </a:solidFill>
                <a:latin typeface="Meiryo" pitchFamily="34" charset="0"/>
                <a:ea typeface="Meiryo" pitchFamily="34" charset="-122"/>
                <a:cs typeface="Meiryo" pitchFamily="34" charset="-120"/>
              </a:rPr>
              <a:t>自らを測り直す</a:t>
            </a:r>
            <a:endParaRPr lang="en-US" sz="1700" dirty="0"/>
          </a:p>
        </p:txBody>
      </p:sp>
      <p:sp>
        <p:nvSpPr>
          <p:cNvPr id="9" name="Text 7"/>
          <p:cNvSpPr/>
          <p:nvPr/>
        </p:nvSpPr>
        <p:spPr>
          <a:xfrm>
            <a:off x="932688" y="3794760"/>
            <a:ext cx="2980944" cy="141732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特定のサービスや関心事で繋がったリーダーが非日常の空間に集結。大学教員・飲食店経営者・マーケターなど異なる背景が交わり、普段の職場では得られない視点と改善余地に気づく。</a:t>
            </a:r>
            <a:endParaRPr lang="en-US" sz="1150" dirty="0"/>
          </a:p>
        </p:txBody>
      </p:sp>
      <p:sp>
        <p:nvSpPr>
          <p:cNvPr id="10" name="Shape 8"/>
          <p:cNvSpPr/>
          <p:nvPr/>
        </p:nvSpPr>
        <p:spPr>
          <a:xfrm>
            <a:off x="4480560" y="1828800"/>
            <a:ext cx="3566160" cy="3520440"/>
          </a:xfrm>
          <a:prstGeom prst="roundRect">
            <a:avLst>
              <a:gd name="adj" fmla="val 2078"/>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1" name="Shape 9"/>
          <p:cNvSpPr/>
          <p:nvPr/>
        </p:nvSpPr>
        <p:spPr>
          <a:xfrm>
            <a:off x="4773168" y="2103120"/>
            <a:ext cx="640080" cy="640080"/>
          </a:xfrm>
          <a:prstGeom prst="ellipse">
            <a:avLst/>
          </a:prstGeom>
          <a:solidFill>
            <a:srgbClr val="132A4A"/>
          </a:solidFill>
          <a:ln w="12700">
            <a:solidFill>
              <a:srgbClr val="132A4A"/>
            </a:solidFill>
            <a:prstDash val="solid"/>
          </a:ln>
        </p:spPr>
      </p:sp>
      <p:sp>
        <p:nvSpPr>
          <p:cNvPr id="12" name="Text 10"/>
          <p:cNvSpPr/>
          <p:nvPr/>
        </p:nvSpPr>
        <p:spPr>
          <a:xfrm>
            <a:off x="4773168" y="210312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場</a:t>
            </a:r>
            <a:endParaRPr lang="en-US" sz="1700" dirty="0"/>
          </a:p>
        </p:txBody>
      </p:sp>
      <p:sp>
        <p:nvSpPr>
          <p:cNvPr id="13" name="Text 11"/>
          <p:cNvSpPr/>
          <p:nvPr/>
        </p:nvSpPr>
        <p:spPr>
          <a:xfrm>
            <a:off x="4773168" y="2907792"/>
            <a:ext cx="2980944" cy="868680"/>
          </a:xfrm>
          <a:prstGeom prst="rect">
            <a:avLst/>
          </a:prstGeom>
          <a:noFill/>
          <a:ln/>
        </p:spPr>
        <p:txBody>
          <a:bodyPr wrap="square" lIns="0" tIns="0" rIns="0" bIns="0" rtlCol="0" anchor="t"/>
          <a:lstStyle/>
          <a:p>
            <a:pPr indent="0" marL="0">
              <a:lnSpc>
                <a:spcPts val="2500"/>
              </a:lnSpc>
              <a:buNone/>
            </a:pPr>
            <a:r>
              <a:rPr lang="en-US" sz="1700" b="1" dirty="0">
                <a:solidFill>
                  <a:srgbClr val="132A4A"/>
                </a:solidFill>
                <a:latin typeface="Meiryo" pitchFamily="34" charset="0"/>
                <a:ea typeface="Meiryo" pitchFamily="34" charset="-122"/>
                <a:cs typeface="Meiryo" pitchFamily="34" charset="-120"/>
              </a:rPr>
              <a:t>本編の外側がつくる</a:t>
            </a:r>
            <a:endParaRPr lang="en-US" sz="1700" dirty="0"/>
          </a:p>
          <a:p>
            <a:pPr indent="0" marL="0">
              <a:lnSpc>
                <a:spcPts val="2500"/>
              </a:lnSpc>
              <a:buNone/>
            </a:pPr>
            <a:r>
              <a:rPr lang="en-US" sz="1700" b="1" dirty="0">
                <a:solidFill>
                  <a:srgbClr val="132A4A"/>
                </a:solidFill>
                <a:latin typeface="Meiryo" pitchFamily="34" charset="0"/>
                <a:ea typeface="Meiryo" pitchFamily="34" charset="-122"/>
                <a:cs typeface="Meiryo" pitchFamily="34" charset="-120"/>
              </a:rPr>
              <a:t>心理的安全性</a:t>
            </a:r>
            <a:endParaRPr lang="en-US" sz="1700" dirty="0"/>
          </a:p>
        </p:txBody>
      </p:sp>
      <p:sp>
        <p:nvSpPr>
          <p:cNvPr id="14" name="Text 12"/>
          <p:cNvSpPr/>
          <p:nvPr/>
        </p:nvSpPr>
        <p:spPr>
          <a:xfrm>
            <a:off x="4773168" y="3794760"/>
            <a:ext cx="2980944" cy="141732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前夜祭、ワーケーション、大人の遠足、テントサウナ。初対面（約40%が初参加）でも「同じ釜の飯を食い、同じ湯に浸かる」ことで肩書きの装甲が外れ、議論が本質化する。</a:t>
            </a:r>
            <a:endParaRPr lang="en-US" sz="1150" dirty="0"/>
          </a:p>
        </p:txBody>
      </p:sp>
      <p:sp>
        <p:nvSpPr>
          <p:cNvPr id="15" name="Shape 13"/>
          <p:cNvSpPr/>
          <p:nvPr/>
        </p:nvSpPr>
        <p:spPr>
          <a:xfrm>
            <a:off x="8321040" y="1828800"/>
            <a:ext cx="3566160" cy="3520440"/>
          </a:xfrm>
          <a:prstGeom prst="roundRect">
            <a:avLst>
              <a:gd name="adj" fmla="val 2078"/>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6" name="Shape 14"/>
          <p:cNvSpPr/>
          <p:nvPr/>
        </p:nvSpPr>
        <p:spPr>
          <a:xfrm>
            <a:off x="8613648" y="2103120"/>
            <a:ext cx="640080" cy="640080"/>
          </a:xfrm>
          <a:prstGeom prst="ellipse">
            <a:avLst/>
          </a:prstGeom>
          <a:solidFill>
            <a:srgbClr val="1E3E6B"/>
          </a:solidFill>
          <a:ln w="12700">
            <a:solidFill>
              <a:srgbClr val="1E3E6B"/>
            </a:solidFill>
            <a:prstDash val="solid"/>
          </a:ln>
        </p:spPr>
      </p:sp>
      <p:sp>
        <p:nvSpPr>
          <p:cNvPr id="17" name="Text 15"/>
          <p:cNvSpPr/>
          <p:nvPr/>
        </p:nvSpPr>
        <p:spPr>
          <a:xfrm>
            <a:off x="8613648" y="2103120"/>
            <a:ext cx="64008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純度</a:t>
            </a:r>
            <a:endParaRPr lang="en-US" sz="1700" dirty="0"/>
          </a:p>
        </p:txBody>
      </p:sp>
      <p:sp>
        <p:nvSpPr>
          <p:cNvPr id="18" name="Text 16"/>
          <p:cNvSpPr/>
          <p:nvPr/>
        </p:nvSpPr>
        <p:spPr>
          <a:xfrm>
            <a:off x="8613648" y="2907792"/>
            <a:ext cx="2980944" cy="868680"/>
          </a:xfrm>
          <a:prstGeom prst="rect">
            <a:avLst/>
          </a:prstGeom>
          <a:noFill/>
          <a:ln/>
        </p:spPr>
        <p:txBody>
          <a:bodyPr wrap="square" lIns="0" tIns="0" rIns="0" bIns="0" rtlCol="0" anchor="t"/>
          <a:lstStyle/>
          <a:p>
            <a:pPr indent="0" marL="0">
              <a:lnSpc>
                <a:spcPts val="2500"/>
              </a:lnSpc>
              <a:buNone/>
            </a:pPr>
            <a:r>
              <a:rPr lang="en-US" sz="1700" b="1" dirty="0">
                <a:solidFill>
                  <a:srgbClr val="132A4A"/>
                </a:solidFill>
                <a:latin typeface="Meiryo" pitchFamily="34" charset="0"/>
                <a:ea typeface="Meiryo" pitchFamily="34" charset="-122"/>
                <a:cs typeface="Meiryo" pitchFamily="34" charset="-120"/>
              </a:rPr>
              <a:t>ノーギャラ運用が</a:t>
            </a:r>
            <a:endParaRPr lang="en-US" sz="1700" dirty="0"/>
          </a:p>
          <a:p>
            <a:pPr indent="0" marL="0">
              <a:lnSpc>
                <a:spcPts val="2500"/>
              </a:lnSpc>
              <a:buNone/>
            </a:pPr>
            <a:r>
              <a:rPr lang="en-US" sz="1700" b="1" dirty="0">
                <a:solidFill>
                  <a:srgbClr val="132A4A"/>
                </a:solidFill>
                <a:latin typeface="Meiryo" pitchFamily="34" charset="0"/>
                <a:ea typeface="Meiryo" pitchFamily="34" charset="-122"/>
                <a:cs typeface="Meiryo" pitchFamily="34" charset="-120"/>
              </a:rPr>
              <a:t>価値交換を純化する</a:t>
            </a:r>
            <a:endParaRPr lang="en-US" sz="1700" dirty="0"/>
          </a:p>
        </p:txBody>
      </p:sp>
      <p:sp>
        <p:nvSpPr>
          <p:cNvPr id="19" name="Text 17"/>
          <p:cNvSpPr/>
          <p:nvPr/>
        </p:nvSpPr>
        <p:spPr>
          <a:xfrm>
            <a:off x="8613648" y="3794760"/>
            <a:ext cx="2980944" cy="141732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登壇者に交通費も謝礼も払わない。熱量の高い参加者と交わること自体が報酬という相互信頼。だから参加者は「お客様」ではなく場を構成する当事者（アクター）になる。</a:t>
            </a:r>
            <a:endParaRPr lang="en-US" sz="1150" dirty="0"/>
          </a:p>
        </p:txBody>
      </p:sp>
      <p:sp>
        <p:nvSpPr>
          <p:cNvPr id="20" name="Text 18"/>
          <p:cNvSpPr/>
          <p:nvPr/>
        </p:nvSpPr>
        <p:spPr>
          <a:xfrm>
            <a:off x="640080" y="5532120"/>
            <a:ext cx="10881360" cy="502920"/>
          </a:xfrm>
          <a:prstGeom prst="rect">
            <a:avLst/>
          </a:prstGeom>
          <a:noFill/>
          <a:ln/>
        </p:spPr>
        <p:txBody>
          <a:bodyPr wrap="square" lIns="0" tIns="0" rIns="0" bIns="0" rtlCol="0" anchor="t"/>
          <a:lstStyle/>
          <a:p>
            <a:pPr indent="0" marL="0">
              <a:buNone/>
            </a:pPr>
            <a:r>
              <a:rPr lang="en-US" sz="1200" dirty="0">
                <a:solidFill>
                  <a:srgbClr val="667384"/>
                </a:solidFill>
                <a:latin typeface="Meiryo" pitchFamily="34" charset="0"/>
                <a:ea typeface="Meiryo" pitchFamily="34" charset="-122"/>
                <a:cs typeface="Meiryo" pitchFamily="34" charset="-120"/>
              </a:rPr>
              <a:t>他地域展開に不可欠なのはフォーマットの輸入ではなく「文脈化」。CLS出島は“点在する長崎のコミュニティを面にする”という物語を掲げた。</a:t>
            </a:r>
            <a:endParaRPr lang="en-US" sz="1200" dirty="0"/>
          </a:p>
        </p:txBody>
      </p:sp>
      <p:sp>
        <p:nvSpPr>
          <p:cNvPr id="21" name="Text 19"/>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REVIEW</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第0回・第1回のレガシーと、突きつけられた課題</a:t>
            </a:r>
            <a:endParaRPr lang="en-US" sz="3000" dirty="0"/>
          </a:p>
        </p:txBody>
      </p:sp>
      <p:sp>
        <p:nvSpPr>
          <p:cNvPr id="4" name="Shape 2"/>
          <p:cNvSpPr/>
          <p:nvPr/>
        </p:nvSpPr>
        <p:spPr>
          <a:xfrm>
            <a:off x="640080" y="1554480"/>
            <a:ext cx="5394960" cy="3657600"/>
          </a:xfrm>
          <a:prstGeom prst="roundRect">
            <a:avLst>
              <a:gd name="adj" fmla="val 2000"/>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5" name="Text 3"/>
          <p:cNvSpPr/>
          <p:nvPr/>
        </p:nvSpPr>
        <p:spPr>
          <a:xfrm>
            <a:off x="960120" y="1783080"/>
            <a:ext cx="4754880" cy="320040"/>
          </a:xfrm>
          <a:prstGeom prst="rect">
            <a:avLst/>
          </a:prstGeom>
          <a:noFill/>
          <a:ln/>
        </p:spPr>
        <p:txBody>
          <a:bodyPr wrap="square" lIns="0" tIns="0" rIns="0" bIns="0" rtlCol="0" anchor="ctr"/>
          <a:lstStyle/>
          <a:p>
            <a:pPr indent="0" marL="0">
              <a:buNone/>
            </a:pPr>
            <a:r>
              <a:rPr lang="en-US" sz="1500" b="1" dirty="0">
                <a:solidFill>
                  <a:srgbClr val="132A4A"/>
                </a:solidFill>
                <a:latin typeface="Meiryo" pitchFamily="34" charset="0"/>
                <a:ea typeface="Meiryo" pitchFamily="34" charset="-122"/>
                <a:cs typeface="Meiryo" pitchFamily="34" charset="-120"/>
              </a:rPr>
              <a:t>第0回（2025年8月・プレ開催）</a:t>
            </a:r>
            <a:endParaRPr lang="en-US" sz="1500" dirty="0"/>
          </a:p>
        </p:txBody>
      </p:sp>
      <p:sp>
        <p:nvSpPr>
          <p:cNvPr id="6" name="Text 4"/>
          <p:cNvSpPr/>
          <p:nvPr/>
        </p:nvSpPr>
        <p:spPr>
          <a:xfrm>
            <a:off x="960120" y="2121408"/>
            <a:ext cx="4754880" cy="274320"/>
          </a:xfrm>
          <a:prstGeom prst="rect">
            <a:avLst/>
          </a:prstGeom>
          <a:noFill/>
          <a:ln/>
        </p:spPr>
        <p:txBody>
          <a:bodyPr wrap="square" lIns="0" tIns="0" rIns="0" bIns="0" rtlCol="0" anchor="ctr"/>
          <a:lstStyle/>
          <a:p>
            <a:pPr indent="0" marL="0">
              <a:buNone/>
            </a:pPr>
            <a:r>
              <a:rPr lang="en-US" sz="1150" dirty="0">
                <a:solidFill>
                  <a:srgbClr val="667384"/>
                </a:solidFill>
                <a:latin typeface="Meiryo" pitchFamily="34" charset="0"/>
                <a:ea typeface="Meiryo" pitchFamily="34" charset="-122"/>
                <a:cs typeface="Meiryo" pitchFamily="34" charset="-120"/>
              </a:rPr>
              <a:t>別府レンガホール／約40名</a:t>
            </a:r>
            <a:endParaRPr lang="en-US" sz="1150" dirty="0"/>
          </a:p>
        </p:txBody>
      </p:sp>
      <p:sp>
        <p:nvSpPr>
          <p:cNvPr id="7" name="Shape 5"/>
          <p:cNvSpPr/>
          <p:nvPr/>
        </p:nvSpPr>
        <p:spPr>
          <a:xfrm>
            <a:off x="960120" y="2624328"/>
            <a:ext cx="118872" cy="118872"/>
          </a:xfrm>
          <a:prstGeom prst="ellipse">
            <a:avLst/>
          </a:prstGeom>
          <a:solidFill>
            <a:srgbClr val="E2703A"/>
          </a:solidFill>
          <a:ln w="12700">
            <a:solidFill>
              <a:srgbClr val="333333"/>
            </a:solidFill>
            <a:prstDash val="solid"/>
          </a:ln>
        </p:spPr>
      </p:sp>
      <p:sp>
        <p:nvSpPr>
          <p:cNvPr id="8" name="Text 6"/>
          <p:cNvSpPr/>
          <p:nvPr/>
        </p:nvSpPr>
        <p:spPr>
          <a:xfrm>
            <a:off x="1188720" y="2514600"/>
            <a:ext cx="4572000" cy="777240"/>
          </a:xfrm>
          <a:prstGeom prst="rect">
            <a:avLst/>
          </a:prstGeom>
          <a:noFill/>
          <a:ln/>
        </p:spPr>
        <p:txBody>
          <a:bodyPr wrap="square" lIns="0" tIns="0" rIns="0" bIns="0" rtlCol="0" anchor="t"/>
          <a:lstStyle/>
          <a:p>
            <a:pPr indent="0" marL="0">
              <a:lnSpc>
                <a:spcPts val="1800"/>
              </a:lnSpc>
              <a:buNone/>
            </a:pPr>
            <a:r>
              <a:rPr lang="en-US" sz="1200" dirty="0">
                <a:solidFill>
                  <a:srgbClr val="1F2933"/>
                </a:solidFill>
                <a:latin typeface="Meiryo" pitchFamily="34" charset="0"/>
                <a:ea typeface="Meiryo" pitchFamily="34" charset="-122"/>
                <a:cs typeface="Meiryo" pitchFamily="34" charset="-120"/>
              </a:rPr>
              <a:t>用意した付箋が足りなくなるほど参加者が課題を書き出し、お祭りのような熱狂が生まれた</a:t>
            </a:r>
            <a:endParaRPr lang="en-US" sz="1200" dirty="0"/>
          </a:p>
        </p:txBody>
      </p:sp>
      <p:sp>
        <p:nvSpPr>
          <p:cNvPr id="9" name="Shape 7"/>
          <p:cNvSpPr/>
          <p:nvPr/>
        </p:nvSpPr>
        <p:spPr>
          <a:xfrm>
            <a:off x="960120" y="3465576"/>
            <a:ext cx="118872" cy="118872"/>
          </a:xfrm>
          <a:prstGeom prst="ellipse">
            <a:avLst/>
          </a:prstGeom>
          <a:solidFill>
            <a:srgbClr val="E2703A"/>
          </a:solidFill>
          <a:ln w="12700">
            <a:solidFill>
              <a:srgbClr val="333333"/>
            </a:solidFill>
            <a:prstDash val="solid"/>
          </a:ln>
        </p:spPr>
      </p:sp>
      <p:sp>
        <p:nvSpPr>
          <p:cNvPr id="10" name="Text 8"/>
          <p:cNvSpPr/>
          <p:nvPr/>
        </p:nvSpPr>
        <p:spPr>
          <a:xfrm>
            <a:off x="1188720" y="3355848"/>
            <a:ext cx="4572000" cy="777240"/>
          </a:xfrm>
          <a:prstGeom prst="rect">
            <a:avLst/>
          </a:prstGeom>
          <a:noFill/>
          <a:ln/>
        </p:spPr>
        <p:txBody>
          <a:bodyPr wrap="square" lIns="0" tIns="0" rIns="0" bIns="0" rtlCol="0" anchor="t"/>
          <a:lstStyle/>
          <a:p>
            <a:pPr indent="0" marL="0">
              <a:lnSpc>
                <a:spcPts val="1800"/>
              </a:lnSpc>
              <a:buNone/>
            </a:pPr>
            <a:r>
              <a:rPr lang="en-US" sz="1200" dirty="0">
                <a:solidFill>
                  <a:srgbClr val="1F2933"/>
                </a:solidFill>
                <a:latin typeface="Meiryo" pitchFamily="34" charset="0"/>
                <a:ea typeface="Meiryo" pitchFamily="34" charset="-122"/>
                <a:cs typeface="Meiryo" pitchFamily="34" charset="-120"/>
              </a:rPr>
              <a:t>「同じ湯の中」というキーワードが参加者から自然発生し、すでにコア概念として機能</a:t>
            </a:r>
            <a:endParaRPr lang="en-US" sz="1200" dirty="0"/>
          </a:p>
        </p:txBody>
      </p:sp>
      <p:sp>
        <p:nvSpPr>
          <p:cNvPr id="11" name="Shape 9"/>
          <p:cNvSpPr/>
          <p:nvPr/>
        </p:nvSpPr>
        <p:spPr>
          <a:xfrm>
            <a:off x="960120" y="4306824"/>
            <a:ext cx="118872" cy="118872"/>
          </a:xfrm>
          <a:prstGeom prst="ellipse">
            <a:avLst/>
          </a:prstGeom>
          <a:solidFill>
            <a:srgbClr val="E2703A"/>
          </a:solidFill>
          <a:ln w="12700">
            <a:solidFill>
              <a:srgbClr val="333333"/>
            </a:solidFill>
            <a:prstDash val="solid"/>
          </a:ln>
        </p:spPr>
      </p:sp>
      <p:sp>
        <p:nvSpPr>
          <p:cNvPr id="12" name="Text 10"/>
          <p:cNvSpPr/>
          <p:nvPr/>
        </p:nvSpPr>
        <p:spPr>
          <a:xfrm>
            <a:off x="1188720" y="4197096"/>
            <a:ext cx="4572000" cy="777240"/>
          </a:xfrm>
          <a:prstGeom prst="rect">
            <a:avLst/>
          </a:prstGeom>
          <a:noFill/>
          <a:ln/>
        </p:spPr>
        <p:txBody>
          <a:bodyPr wrap="square" lIns="0" tIns="0" rIns="0" bIns="0" rtlCol="0" anchor="t"/>
          <a:lstStyle/>
          <a:p>
            <a:pPr indent="0" marL="0">
              <a:lnSpc>
                <a:spcPts val="1800"/>
              </a:lnSpc>
              <a:buNone/>
            </a:pPr>
            <a:r>
              <a:rPr lang="en-US" sz="1200" dirty="0">
                <a:solidFill>
                  <a:srgbClr val="1F2933"/>
                </a:solidFill>
                <a:latin typeface="Meiryo" pitchFamily="34" charset="0"/>
                <a:ea typeface="Meiryo" pitchFamily="34" charset="-122"/>
                <a:cs typeface="Meiryo" pitchFamily="34" charset="-120"/>
              </a:rPr>
              <a:t>野田商店の巻き寿司、別府ブルワリーのクラフトビール。地域資源を活かした懇親が高評価</a:t>
            </a:r>
            <a:endParaRPr lang="en-US" sz="1200" dirty="0"/>
          </a:p>
        </p:txBody>
      </p:sp>
      <p:sp>
        <p:nvSpPr>
          <p:cNvPr id="13" name="Shape 11"/>
          <p:cNvSpPr/>
          <p:nvPr/>
        </p:nvSpPr>
        <p:spPr>
          <a:xfrm>
            <a:off x="6400800" y="1554480"/>
            <a:ext cx="5120640" cy="3657600"/>
          </a:xfrm>
          <a:prstGeom prst="roundRect">
            <a:avLst>
              <a:gd name="adj" fmla="val 2000"/>
            </a:avLst>
          </a:prstGeom>
          <a:solidFill>
            <a:srgbClr val="F6E3D6"/>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4" name="Text 12"/>
          <p:cNvSpPr/>
          <p:nvPr/>
        </p:nvSpPr>
        <p:spPr>
          <a:xfrm>
            <a:off x="6720840" y="1783080"/>
            <a:ext cx="4572000" cy="320040"/>
          </a:xfrm>
          <a:prstGeom prst="rect">
            <a:avLst/>
          </a:prstGeom>
          <a:noFill/>
          <a:ln/>
        </p:spPr>
        <p:txBody>
          <a:bodyPr wrap="square" lIns="0" tIns="0" rIns="0" bIns="0" rtlCol="0" anchor="ctr"/>
          <a:lstStyle/>
          <a:p>
            <a:pPr indent="0" marL="0">
              <a:buNone/>
            </a:pPr>
            <a:r>
              <a:rPr lang="en-US" sz="1500" b="1" dirty="0">
                <a:solidFill>
                  <a:srgbClr val="E2703A"/>
                </a:solidFill>
                <a:latin typeface="Meiryo" pitchFamily="34" charset="0"/>
                <a:ea typeface="Meiryo" pitchFamily="34" charset="-122"/>
                <a:cs typeface="Meiryo" pitchFamily="34" charset="-120"/>
              </a:rPr>
              <a:t>第1回（2026年1月・本開催）</a:t>
            </a:r>
            <a:endParaRPr lang="en-US" sz="1500" dirty="0"/>
          </a:p>
        </p:txBody>
      </p:sp>
      <p:sp>
        <p:nvSpPr>
          <p:cNvPr id="15" name="Text 13"/>
          <p:cNvSpPr/>
          <p:nvPr/>
        </p:nvSpPr>
        <p:spPr>
          <a:xfrm>
            <a:off x="6720840" y="2121408"/>
            <a:ext cx="4572000" cy="274320"/>
          </a:xfrm>
          <a:prstGeom prst="rect">
            <a:avLst/>
          </a:prstGeom>
          <a:noFill/>
          <a:ln/>
        </p:spPr>
        <p:txBody>
          <a:bodyPr wrap="square" lIns="0" tIns="0" rIns="0" bIns="0" rtlCol="0" anchor="ctr"/>
          <a:lstStyle/>
          <a:p>
            <a:pPr indent="0" marL="0">
              <a:buNone/>
            </a:pPr>
            <a:r>
              <a:rPr lang="en-US" sz="1150" dirty="0">
                <a:solidFill>
                  <a:srgbClr val="9C6448"/>
                </a:solidFill>
                <a:latin typeface="Meiryo" pitchFamily="34" charset="0"/>
                <a:ea typeface="Meiryo" pitchFamily="34" charset="-122"/>
                <a:cs typeface="Meiryo" pitchFamily="34" charset="-120"/>
              </a:rPr>
              <a:t>中津〜別府／5日間のワーケーション</a:t>
            </a:r>
            <a:endParaRPr lang="en-US" sz="1150" dirty="0"/>
          </a:p>
        </p:txBody>
      </p:sp>
      <p:sp>
        <p:nvSpPr>
          <p:cNvPr id="16" name="Shape 14"/>
          <p:cNvSpPr/>
          <p:nvPr/>
        </p:nvSpPr>
        <p:spPr>
          <a:xfrm>
            <a:off x="6720840" y="2624328"/>
            <a:ext cx="118872" cy="118872"/>
          </a:xfrm>
          <a:prstGeom prst="ellipse">
            <a:avLst/>
          </a:prstGeom>
          <a:solidFill>
            <a:srgbClr val="E2703A"/>
          </a:solidFill>
          <a:ln w="12700">
            <a:solidFill>
              <a:srgbClr val="333333"/>
            </a:solidFill>
            <a:prstDash val="solid"/>
          </a:ln>
        </p:spPr>
      </p:sp>
      <p:sp>
        <p:nvSpPr>
          <p:cNvPr id="17" name="Text 15"/>
          <p:cNvSpPr/>
          <p:nvPr/>
        </p:nvSpPr>
        <p:spPr>
          <a:xfrm>
            <a:off x="6949440" y="2514600"/>
            <a:ext cx="4297680" cy="777240"/>
          </a:xfrm>
          <a:prstGeom prst="rect">
            <a:avLst/>
          </a:prstGeom>
          <a:noFill/>
          <a:ln/>
        </p:spPr>
        <p:txBody>
          <a:bodyPr wrap="square" lIns="0" tIns="0" rIns="0" bIns="0" rtlCol="0" anchor="t"/>
          <a:lstStyle/>
          <a:p>
            <a:pPr indent="0" marL="0">
              <a:lnSpc>
                <a:spcPts val="1800"/>
              </a:lnSpc>
              <a:buNone/>
            </a:pPr>
            <a:r>
              <a:rPr lang="en-US" sz="1200" dirty="0">
                <a:solidFill>
                  <a:srgbClr val="1F2933"/>
                </a:solidFill>
                <a:latin typeface="Meiryo" pitchFamily="34" charset="0"/>
                <a:ea typeface="Meiryo" pitchFamily="34" charset="-122"/>
                <a:cs typeface="Meiryo" pitchFamily="34" charset="-120"/>
              </a:rPr>
              <a:t>唐揚げ食べ歩き、はしご酒、別府八湯全制覇ツアー、地獄蒸し体験と極めて重厚</a:t>
            </a:r>
            <a:endParaRPr lang="en-US" sz="1200" dirty="0"/>
          </a:p>
        </p:txBody>
      </p:sp>
      <p:sp>
        <p:nvSpPr>
          <p:cNvPr id="18" name="Shape 16"/>
          <p:cNvSpPr/>
          <p:nvPr/>
        </p:nvSpPr>
        <p:spPr>
          <a:xfrm>
            <a:off x="6720840" y="3465576"/>
            <a:ext cx="118872" cy="118872"/>
          </a:xfrm>
          <a:prstGeom prst="ellipse">
            <a:avLst/>
          </a:prstGeom>
          <a:solidFill>
            <a:srgbClr val="E2703A"/>
          </a:solidFill>
          <a:ln w="12700">
            <a:solidFill>
              <a:srgbClr val="333333"/>
            </a:solidFill>
            <a:prstDash val="solid"/>
          </a:ln>
        </p:spPr>
      </p:sp>
      <p:sp>
        <p:nvSpPr>
          <p:cNvPr id="19" name="Text 17"/>
          <p:cNvSpPr/>
          <p:nvPr/>
        </p:nvSpPr>
        <p:spPr>
          <a:xfrm>
            <a:off x="6949440" y="3355848"/>
            <a:ext cx="4297680" cy="777240"/>
          </a:xfrm>
          <a:prstGeom prst="rect">
            <a:avLst/>
          </a:prstGeom>
          <a:noFill/>
          <a:ln/>
        </p:spPr>
        <p:txBody>
          <a:bodyPr wrap="square" lIns="0" tIns="0" rIns="0" bIns="0" rtlCol="0" anchor="t"/>
          <a:lstStyle/>
          <a:p>
            <a:pPr indent="0" marL="0">
              <a:lnSpc>
                <a:spcPts val="1800"/>
              </a:lnSpc>
              <a:buNone/>
            </a:pPr>
            <a:r>
              <a:rPr lang="en-US" sz="1200" dirty="0">
                <a:solidFill>
                  <a:srgbClr val="1F2933"/>
                </a:solidFill>
                <a:latin typeface="Meiryo" pitchFamily="34" charset="0"/>
                <a:ea typeface="Meiryo" pitchFamily="34" charset="-122"/>
                <a:cs typeface="Meiryo" pitchFamily="34" charset="-120"/>
              </a:rPr>
              <a:t>体験価値は飛躍的に高まる一方、ルート開拓・事業者調整・当日アテンドの負担が膨大</a:t>
            </a:r>
            <a:endParaRPr lang="en-US" sz="1200" dirty="0"/>
          </a:p>
        </p:txBody>
      </p:sp>
      <p:sp>
        <p:nvSpPr>
          <p:cNvPr id="20" name="Shape 18"/>
          <p:cNvSpPr/>
          <p:nvPr/>
        </p:nvSpPr>
        <p:spPr>
          <a:xfrm>
            <a:off x="6720840" y="4306824"/>
            <a:ext cx="118872" cy="118872"/>
          </a:xfrm>
          <a:prstGeom prst="ellipse">
            <a:avLst/>
          </a:prstGeom>
          <a:solidFill>
            <a:srgbClr val="E2703A"/>
          </a:solidFill>
          <a:ln w="12700">
            <a:solidFill>
              <a:srgbClr val="333333"/>
            </a:solidFill>
            <a:prstDash val="solid"/>
          </a:ln>
        </p:spPr>
      </p:sp>
      <p:sp>
        <p:nvSpPr>
          <p:cNvPr id="21" name="Text 19"/>
          <p:cNvSpPr/>
          <p:nvPr/>
        </p:nvSpPr>
        <p:spPr>
          <a:xfrm>
            <a:off x="6949440" y="4197096"/>
            <a:ext cx="4297680" cy="777240"/>
          </a:xfrm>
          <a:prstGeom prst="rect">
            <a:avLst/>
          </a:prstGeom>
          <a:noFill/>
          <a:ln/>
        </p:spPr>
        <p:txBody>
          <a:bodyPr wrap="square" lIns="0" tIns="0" rIns="0" bIns="0" rtlCol="0" anchor="t"/>
          <a:lstStyle/>
          <a:p>
            <a:pPr indent="0" marL="0">
              <a:lnSpc>
                <a:spcPts val="1800"/>
              </a:lnSpc>
              <a:buNone/>
            </a:pPr>
            <a:r>
              <a:rPr lang="en-US" sz="1200" dirty="0">
                <a:solidFill>
                  <a:srgbClr val="1F2933"/>
                </a:solidFill>
                <a:latin typeface="Meiryo" pitchFamily="34" charset="0"/>
                <a:ea typeface="Meiryo" pitchFamily="34" charset="-122"/>
                <a:cs typeface="Meiryo" pitchFamily="34" charset="-120"/>
              </a:rPr>
              <a:t>運営3名で同規模・分散型を追及すれば、組織の疲弊と崩壊を招く危険性が高い</a:t>
            </a:r>
            <a:endParaRPr lang="en-US" sz="1200" dirty="0"/>
          </a:p>
        </p:txBody>
      </p:sp>
      <p:sp>
        <p:nvSpPr>
          <p:cNvPr id="22" name="Text 20"/>
          <p:cNvSpPr/>
          <p:nvPr/>
        </p:nvSpPr>
        <p:spPr>
          <a:xfrm>
            <a:off x="640080" y="5440680"/>
            <a:ext cx="10881360" cy="365760"/>
          </a:xfrm>
          <a:prstGeom prst="rect">
            <a:avLst/>
          </a:prstGeom>
          <a:noFill/>
          <a:ln/>
        </p:spPr>
        <p:txBody>
          <a:bodyPr wrap="square" lIns="0" tIns="0" rIns="0" bIns="0" rtlCol="0" anchor="ctr"/>
          <a:lstStyle/>
          <a:p>
            <a:pPr indent="0" marL="0">
              <a:buNone/>
            </a:pPr>
            <a:r>
              <a:rPr lang="en-US" sz="1300" b="1" dirty="0">
                <a:solidFill>
                  <a:srgbClr val="132A4A"/>
                </a:solidFill>
                <a:latin typeface="Meiryo" pitchFamily="34" charset="0"/>
                <a:ea typeface="Meiryo" pitchFamily="34" charset="-122"/>
                <a:cs typeface="Meiryo" pitchFamily="34" charset="-120"/>
              </a:rPr>
              <a:t>熱狂の再現性は「同じ湯の中」にある。規模ではない。</a:t>
            </a:r>
            <a:endParaRPr lang="en-US" sz="1300" dirty="0"/>
          </a:p>
        </p:txBody>
      </p:sp>
      <p:sp>
        <p:nvSpPr>
          <p:cNvPr id="23" name="Text 21"/>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TEAM</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運営3名は「技術・場作り・信用」の黄金トライアングル</a:t>
            </a:r>
            <a:endParaRPr lang="en-US" sz="3000" dirty="0"/>
          </a:p>
        </p:txBody>
      </p:sp>
      <p:sp>
        <p:nvSpPr>
          <p:cNvPr id="4" name="Text 2"/>
          <p:cNvSpPr/>
          <p:nvPr/>
        </p:nvSpPr>
        <p:spPr>
          <a:xfrm>
            <a:off x="640080" y="1298448"/>
            <a:ext cx="10881360" cy="365760"/>
          </a:xfrm>
          <a:prstGeom prst="rect">
            <a:avLst/>
          </a:prstGeom>
          <a:noFill/>
          <a:ln/>
        </p:spPr>
        <p:txBody>
          <a:bodyPr wrap="square" lIns="0" tIns="0" rIns="0" bIns="0" rtlCol="0" anchor="ctr"/>
          <a:lstStyle/>
          <a:p>
            <a:pPr indent="0" marL="0">
              <a:buNone/>
            </a:pPr>
            <a:r>
              <a:rPr lang="en-US" sz="1250" dirty="0">
                <a:solidFill>
                  <a:srgbClr val="667384"/>
                </a:solidFill>
                <a:latin typeface="Meiryo" pitchFamily="34" charset="0"/>
                <a:ea typeface="Meiryo" pitchFamily="34" charset="-122"/>
                <a:cs typeface="Meiryo" pitchFamily="34" charset="-120"/>
              </a:rPr>
              <a:t>質的には極めて優秀。ただし量的な実働リソースは明確に不足している。</a:t>
            </a:r>
            <a:endParaRPr lang="en-US" sz="1250" dirty="0"/>
          </a:p>
        </p:txBody>
      </p:sp>
      <p:sp>
        <p:nvSpPr>
          <p:cNvPr id="5" name="Shape 3"/>
          <p:cNvSpPr/>
          <p:nvPr/>
        </p:nvSpPr>
        <p:spPr>
          <a:xfrm>
            <a:off x="640080" y="1828800"/>
            <a:ext cx="3566160" cy="3566160"/>
          </a:xfrm>
          <a:prstGeom prst="roundRect">
            <a:avLst>
              <a:gd name="adj" fmla="val 2051"/>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6" name="Shape 4"/>
          <p:cNvSpPr/>
          <p:nvPr/>
        </p:nvSpPr>
        <p:spPr>
          <a:xfrm>
            <a:off x="640080" y="1828800"/>
            <a:ext cx="3566160" cy="868680"/>
          </a:xfrm>
          <a:prstGeom prst="roundRect">
            <a:avLst>
              <a:gd name="adj" fmla="val 8421"/>
            </a:avLst>
          </a:prstGeom>
          <a:solidFill>
            <a:srgbClr val="132A4A"/>
          </a:solidFill>
          <a:ln w="12700">
            <a:solidFill>
              <a:srgbClr val="333333"/>
            </a:solidFill>
            <a:prstDash val="solid"/>
          </a:ln>
        </p:spPr>
      </p:sp>
      <p:sp>
        <p:nvSpPr>
          <p:cNvPr id="7" name="Text 5"/>
          <p:cNvSpPr/>
          <p:nvPr/>
        </p:nvSpPr>
        <p:spPr>
          <a:xfrm>
            <a:off x="914400" y="1947672"/>
            <a:ext cx="3017520" cy="347472"/>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若林 諒</a:t>
            </a:r>
            <a:endParaRPr lang="en-US" sz="1800" dirty="0"/>
          </a:p>
        </p:txBody>
      </p:sp>
      <p:sp>
        <p:nvSpPr>
          <p:cNvPr id="8" name="Text 6"/>
          <p:cNvSpPr/>
          <p:nvPr/>
        </p:nvSpPr>
        <p:spPr>
          <a:xfrm>
            <a:off x="914400" y="2304288"/>
            <a:ext cx="3017520" cy="274320"/>
          </a:xfrm>
          <a:prstGeom prst="rect">
            <a:avLst/>
          </a:prstGeom>
          <a:noFill/>
          <a:ln/>
        </p:spPr>
        <p:txBody>
          <a:bodyPr wrap="square" lIns="0" tIns="0" rIns="0" bIns="0" rtlCol="0" anchor="ctr"/>
          <a:lstStyle/>
          <a:p>
            <a:pPr indent="0" marL="0">
              <a:buNone/>
            </a:pPr>
            <a:r>
              <a:rPr lang="en-US" sz="1050" dirty="0">
                <a:solidFill>
                  <a:srgbClr val="AFC0D5"/>
                </a:solidFill>
                <a:latin typeface="Meiryo" pitchFamily="34" charset="0"/>
                <a:ea typeface="Meiryo" pitchFamily="34" charset="-122"/>
                <a:cs typeface="Meiryo" pitchFamily="34" charset="-120"/>
              </a:rPr>
              <a:t>株式会社オーイーシー／フリーランス</a:t>
            </a:r>
            <a:endParaRPr lang="en-US" sz="1050" dirty="0"/>
          </a:p>
        </p:txBody>
      </p:sp>
      <p:sp>
        <p:nvSpPr>
          <p:cNvPr id="9" name="Text 7"/>
          <p:cNvSpPr/>
          <p:nvPr/>
        </p:nvSpPr>
        <p:spPr>
          <a:xfrm>
            <a:off x="914400" y="2880360"/>
            <a:ext cx="3017520" cy="457200"/>
          </a:xfrm>
          <a:prstGeom prst="rect">
            <a:avLst/>
          </a:prstGeom>
          <a:noFill/>
          <a:ln/>
        </p:spPr>
        <p:txBody>
          <a:bodyPr wrap="square" lIns="0" tIns="0" rIns="0" bIns="0" rtlCol="0" anchor="ctr"/>
          <a:lstStyle/>
          <a:p>
            <a:pPr indent="0" marL="0">
              <a:buNone/>
            </a:pPr>
            <a:r>
              <a:rPr lang="en-US" sz="1500" b="1" dirty="0">
                <a:solidFill>
                  <a:srgbClr val="E2703A"/>
                </a:solidFill>
                <a:latin typeface="Meiryo" pitchFamily="34" charset="0"/>
                <a:ea typeface="Meiryo" pitchFamily="34" charset="-122"/>
                <a:cs typeface="Meiryo" pitchFamily="34" charset="-120"/>
              </a:rPr>
              <a:t>越境 の体現者</a:t>
            </a:r>
            <a:endParaRPr lang="en-US" sz="1500" dirty="0"/>
          </a:p>
        </p:txBody>
      </p:sp>
      <p:sp>
        <p:nvSpPr>
          <p:cNvPr id="10" name="Text 8"/>
          <p:cNvSpPr/>
          <p:nvPr/>
        </p:nvSpPr>
        <p:spPr>
          <a:xfrm>
            <a:off x="914400" y="3429000"/>
            <a:ext cx="3017520" cy="178308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Elixirなど技術コミュニティに精通し、全国のIT人材を別府へ引き込むネットワークと「巻き込まれる力」。老舗IT企業に属しながら副業を持つ柔軟なキャリア自体が共感を呼ぶ。</a:t>
            </a:r>
            <a:endParaRPr lang="en-US" sz="1150" dirty="0"/>
          </a:p>
        </p:txBody>
      </p:sp>
      <p:sp>
        <p:nvSpPr>
          <p:cNvPr id="11" name="Shape 9"/>
          <p:cNvSpPr/>
          <p:nvPr/>
        </p:nvSpPr>
        <p:spPr>
          <a:xfrm>
            <a:off x="4480560" y="1828800"/>
            <a:ext cx="3566160" cy="3566160"/>
          </a:xfrm>
          <a:prstGeom prst="roundRect">
            <a:avLst>
              <a:gd name="adj" fmla="val 2051"/>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2" name="Shape 10"/>
          <p:cNvSpPr/>
          <p:nvPr/>
        </p:nvSpPr>
        <p:spPr>
          <a:xfrm>
            <a:off x="4480560" y="1828800"/>
            <a:ext cx="3566160" cy="868680"/>
          </a:xfrm>
          <a:prstGeom prst="roundRect">
            <a:avLst>
              <a:gd name="adj" fmla="val 8421"/>
            </a:avLst>
          </a:prstGeom>
          <a:solidFill>
            <a:srgbClr val="1E3E6B"/>
          </a:solidFill>
          <a:ln w="12700">
            <a:solidFill>
              <a:srgbClr val="333333"/>
            </a:solidFill>
            <a:prstDash val="solid"/>
          </a:ln>
        </p:spPr>
      </p:sp>
      <p:sp>
        <p:nvSpPr>
          <p:cNvPr id="13" name="Text 11"/>
          <p:cNvSpPr/>
          <p:nvPr/>
        </p:nvSpPr>
        <p:spPr>
          <a:xfrm>
            <a:off x="4754880" y="1947672"/>
            <a:ext cx="3017520" cy="347472"/>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平野 文雄</a:t>
            </a:r>
            <a:endParaRPr lang="en-US" sz="1800" dirty="0"/>
          </a:p>
        </p:txBody>
      </p:sp>
      <p:sp>
        <p:nvSpPr>
          <p:cNvPr id="14" name="Text 12"/>
          <p:cNvSpPr/>
          <p:nvPr/>
        </p:nvSpPr>
        <p:spPr>
          <a:xfrm>
            <a:off x="4754880" y="2304288"/>
            <a:ext cx="3017520" cy="274320"/>
          </a:xfrm>
          <a:prstGeom prst="rect">
            <a:avLst/>
          </a:prstGeom>
          <a:noFill/>
          <a:ln/>
        </p:spPr>
        <p:txBody>
          <a:bodyPr wrap="square" lIns="0" tIns="0" rIns="0" bIns="0" rtlCol="0" anchor="ctr"/>
          <a:lstStyle/>
          <a:p>
            <a:pPr indent="0" marL="0">
              <a:buNone/>
            </a:pPr>
            <a:r>
              <a:rPr lang="en-US" sz="1050" dirty="0">
                <a:solidFill>
                  <a:srgbClr val="AFC0D5"/>
                </a:solidFill>
                <a:latin typeface="Meiryo" pitchFamily="34" charset="0"/>
                <a:ea typeface="Meiryo" pitchFamily="34" charset="-122"/>
                <a:cs typeface="Meiryo" pitchFamily="34" charset="-120"/>
              </a:rPr>
              <a:t>クラスメソッド株式会社</a:t>
            </a:r>
            <a:endParaRPr lang="en-US" sz="1050" dirty="0"/>
          </a:p>
        </p:txBody>
      </p:sp>
      <p:sp>
        <p:nvSpPr>
          <p:cNvPr id="15" name="Text 13"/>
          <p:cNvSpPr/>
          <p:nvPr/>
        </p:nvSpPr>
        <p:spPr>
          <a:xfrm>
            <a:off x="4754880" y="2880360"/>
            <a:ext cx="3017520" cy="457200"/>
          </a:xfrm>
          <a:prstGeom prst="rect">
            <a:avLst/>
          </a:prstGeom>
          <a:noFill/>
          <a:ln/>
        </p:spPr>
        <p:txBody>
          <a:bodyPr wrap="square" lIns="0" tIns="0" rIns="0" bIns="0" rtlCol="0" anchor="ctr"/>
          <a:lstStyle/>
          <a:p>
            <a:pPr indent="0" marL="0">
              <a:buNone/>
            </a:pPr>
            <a:r>
              <a:rPr lang="en-US" sz="1500" b="1" dirty="0">
                <a:solidFill>
                  <a:srgbClr val="E2703A"/>
                </a:solidFill>
                <a:latin typeface="Meiryo" pitchFamily="34" charset="0"/>
                <a:ea typeface="Meiryo" pitchFamily="34" charset="-122"/>
                <a:cs typeface="Meiryo" pitchFamily="34" charset="-120"/>
              </a:rPr>
              <a:t>心理的安全性 の担保者</a:t>
            </a:r>
            <a:endParaRPr lang="en-US" sz="1500" dirty="0"/>
          </a:p>
        </p:txBody>
      </p:sp>
      <p:sp>
        <p:nvSpPr>
          <p:cNvPr id="16" name="Text 14"/>
          <p:cNvSpPr/>
          <p:nvPr/>
        </p:nvSpPr>
        <p:spPr>
          <a:xfrm>
            <a:off x="4754880" y="3429000"/>
            <a:ext cx="3017520" cy="178308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大分のIT系コミュニティを長年牽引。一歩を踏み出せない人の背中を押し、温かく迎え入れる場作りのプロ。「可能性の開花と前進を応援する」姿勢が初参加のハードルを下げる。</a:t>
            </a:r>
            <a:endParaRPr lang="en-US" sz="1150" dirty="0"/>
          </a:p>
        </p:txBody>
      </p:sp>
      <p:sp>
        <p:nvSpPr>
          <p:cNvPr id="17" name="Shape 15"/>
          <p:cNvSpPr/>
          <p:nvPr/>
        </p:nvSpPr>
        <p:spPr>
          <a:xfrm>
            <a:off x="8321040" y="1828800"/>
            <a:ext cx="3566160" cy="3566160"/>
          </a:xfrm>
          <a:prstGeom prst="roundRect">
            <a:avLst>
              <a:gd name="adj" fmla="val 2051"/>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8" name="Shape 16"/>
          <p:cNvSpPr/>
          <p:nvPr/>
        </p:nvSpPr>
        <p:spPr>
          <a:xfrm>
            <a:off x="8321040" y="1828800"/>
            <a:ext cx="3566160" cy="868680"/>
          </a:xfrm>
          <a:prstGeom prst="roundRect">
            <a:avLst>
              <a:gd name="adj" fmla="val 8421"/>
            </a:avLst>
          </a:prstGeom>
          <a:solidFill>
            <a:srgbClr val="132A4A"/>
          </a:solidFill>
          <a:ln w="12700">
            <a:solidFill>
              <a:srgbClr val="333333"/>
            </a:solidFill>
            <a:prstDash val="solid"/>
          </a:ln>
        </p:spPr>
      </p:sp>
      <p:sp>
        <p:nvSpPr>
          <p:cNvPr id="19" name="Text 17"/>
          <p:cNvSpPr/>
          <p:nvPr/>
        </p:nvSpPr>
        <p:spPr>
          <a:xfrm>
            <a:off x="8595360" y="1947672"/>
            <a:ext cx="3017520" cy="347472"/>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辻 誠太郎</a:t>
            </a:r>
            <a:endParaRPr lang="en-US" sz="1800" dirty="0"/>
          </a:p>
        </p:txBody>
      </p:sp>
      <p:sp>
        <p:nvSpPr>
          <p:cNvPr id="20" name="Text 18"/>
          <p:cNvSpPr/>
          <p:nvPr/>
        </p:nvSpPr>
        <p:spPr>
          <a:xfrm>
            <a:off x="8595360" y="2304288"/>
            <a:ext cx="3017520" cy="274320"/>
          </a:xfrm>
          <a:prstGeom prst="rect">
            <a:avLst/>
          </a:prstGeom>
          <a:noFill/>
          <a:ln/>
        </p:spPr>
        <p:txBody>
          <a:bodyPr wrap="square" lIns="0" tIns="0" rIns="0" bIns="0" rtlCol="0" anchor="ctr"/>
          <a:lstStyle/>
          <a:p>
            <a:pPr indent="0" marL="0">
              <a:buNone/>
            </a:pPr>
            <a:r>
              <a:rPr lang="en-US" sz="1050" dirty="0">
                <a:solidFill>
                  <a:srgbClr val="AFC0D5"/>
                </a:solidFill>
                <a:latin typeface="Meiryo" pitchFamily="34" charset="0"/>
                <a:ea typeface="Meiryo" pitchFamily="34" charset="-122"/>
                <a:cs typeface="Meiryo" pitchFamily="34" charset="-120"/>
              </a:rPr>
              <a:t>大分銀行</a:t>
            </a:r>
            <a:endParaRPr lang="en-US" sz="1050" dirty="0"/>
          </a:p>
        </p:txBody>
      </p:sp>
      <p:sp>
        <p:nvSpPr>
          <p:cNvPr id="21" name="Text 19"/>
          <p:cNvSpPr/>
          <p:nvPr/>
        </p:nvSpPr>
        <p:spPr>
          <a:xfrm>
            <a:off x="8595360" y="2880360"/>
            <a:ext cx="3017520" cy="457200"/>
          </a:xfrm>
          <a:prstGeom prst="rect">
            <a:avLst/>
          </a:prstGeom>
          <a:noFill/>
          <a:ln/>
        </p:spPr>
        <p:txBody>
          <a:bodyPr wrap="square" lIns="0" tIns="0" rIns="0" bIns="0" rtlCol="0" anchor="ctr"/>
          <a:lstStyle/>
          <a:p>
            <a:pPr indent="0" marL="0">
              <a:buNone/>
            </a:pPr>
            <a:r>
              <a:rPr lang="en-US" sz="1500" b="1" dirty="0">
                <a:solidFill>
                  <a:srgbClr val="E2703A"/>
                </a:solidFill>
                <a:latin typeface="Meiryo" pitchFamily="34" charset="0"/>
                <a:ea typeface="Meiryo" pitchFamily="34" charset="-122"/>
                <a:cs typeface="Meiryo" pitchFamily="34" charset="-120"/>
              </a:rPr>
              <a:t>トラスト（信用）の構築者</a:t>
            </a:r>
            <a:endParaRPr lang="en-US" sz="1500" dirty="0"/>
          </a:p>
        </p:txBody>
      </p:sp>
      <p:sp>
        <p:nvSpPr>
          <p:cNvPr id="22" name="Text 20"/>
          <p:cNvSpPr/>
          <p:nvPr/>
        </p:nvSpPr>
        <p:spPr>
          <a:xfrm>
            <a:off x="8595360" y="3429000"/>
            <a:ext cx="3017520" cy="178308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地域金融機関の人間がコアにいることが、行政や地元伝統企業への決定的な信頼担保に。資金調達、地元スポンサーへの論理的アプローチ、地域経済の課題抽出で不可欠。</a:t>
            </a:r>
            <a:endParaRPr lang="en-US" sz="1150" dirty="0"/>
          </a:p>
        </p:txBody>
      </p:sp>
      <p:sp>
        <p:nvSpPr>
          <p:cNvPr id="23" name="Text 21"/>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A4A"/>
        </a:solidFill>
      </p:bgPr>
    </p:bg>
    <p:spTree>
      <p:nvGrpSpPr>
        <p:cNvPr id="1" name=""/>
        <p:cNvGrpSpPr/>
        <p:nvPr/>
      </p:nvGrpSpPr>
      <p:grpSpPr>
        <a:xfrm>
          <a:off x="0" y="0"/>
          <a:ext cx="0" cy="0"/>
          <a:chOff x="0" y="0"/>
          <a:chExt cx="0" cy="0"/>
        </a:xfrm>
      </p:grpSpPr>
      <p:sp>
        <p:nvSpPr>
          <p:cNvPr id="2" name="Shape 0"/>
          <p:cNvSpPr/>
          <p:nvPr/>
        </p:nvSpPr>
        <p:spPr>
          <a:xfrm>
            <a:off x="-1737360" y="3566160"/>
            <a:ext cx="4754880" cy="4754880"/>
          </a:xfrm>
          <a:prstGeom prst="ellipse">
            <a:avLst/>
          </a:prstGeom>
          <a:solidFill>
            <a:srgbClr val="1E3E6B"/>
          </a:solidFill>
          <a:ln w="12700">
            <a:solidFill>
              <a:srgbClr val="333333"/>
            </a:solidFill>
            <a:prstDash val="solid"/>
          </a:ln>
        </p:spPr>
      </p:sp>
      <p:sp>
        <p:nvSpPr>
          <p:cNvPr id="3" name="Text 1"/>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STRATEGIC SHIFT</a:t>
            </a:r>
            <a:endParaRPr lang="en-US" sz="1150" dirty="0"/>
          </a:p>
        </p:txBody>
      </p:sp>
      <p:sp>
        <p:nvSpPr>
          <p:cNvPr id="4" name="Text 2"/>
          <p:cNvSpPr/>
          <p:nvPr/>
        </p:nvSpPr>
        <p:spPr>
          <a:xfrm>
            <a:off x="640080" y="1554480"/>
            <a:ext cx="10058400" cy="457200"/>
          </a:xfrm>
          <a:prstGeom prst="rect">
            <a:avLst/>
          </a:prstGeom>
          <a:noFill/>
          <a:ln/>
        </p:spPr>
        <p:txBody>
          <a:bodyPr wrap="square" lIns="0" tIns="0" rIns="0" bIns="0" rtlCol="0" anchor="ctr"/>
          <a:lstStyle/>
          <a:p>
            <a:pPr indent="0" marL="0">
              <a:buNone/>
            </a:pPr>
            <a:r>
              <a:rPr lang="en-US" sz="2000" dirty="0">
                <a:solidFill>
                  <a:srgbClr val="B9C7DA"/>
                </a:solidFill>
                <a:latin typeface="Meiryo" pitchFamily="34" charset="0"/>
                <a:ea typeface="Meiryo" pitchFamily="34" charset="-122"/>
                <a:cs typeface="Meiryo" pitchFamily="34" charset="-120"/>
              </a:rPr>
              <a:t>第2回の戦略は</a:t>
            </a:r>
            <a:endParaRPr lang="en-US" sz="2000" dirty="0"/>
          </a:p>
        </p:txBody>
      </p:sp>
      <p:sp>
        <p:nvSpPr>
          <p:cNvPr id="5" name="Text 3"/>
          <p:cNvSpPr/>
          <p:nvPr/>
        </p:nvSpPr>
        <p:spPr>
          <a:xfrm>
            <a:off x="640080" y="2103120"/>
            <a:ext cx="10515600" cy="731520"/>
          </a:xfrm>
          <a:prstGeom prst="rect">
            <a:avLst/>
          </a:prstGeom>
          <a:noFill/>
          <a:ln/>
        </p:spPr>
        <p:txBody>
          <a:bodyPr wrap="square" lIns="0" tIns="0" rIns="0" bIns="0" rtlCol="0" anchor="ctr"/>
          <a:lstStyle/>
          <a:p>
            <a:pPr indent="0" marL="0">
              <a:buNone/>
            </a:pPr>
            <a:r>
              <a:rPr lang="en-US" sz="3400" b="1" dirty="0">
                <a:solidFill>
                  <a:srgbClr val="8FA3BD"/>
                </a:solidFill>
                <a:latin typeface="Meiryo" pitchFamily="34" charset="0"/>
                <a:ea typeface="Meiryo" pitchFamily="34" charset="-122"/>
                <a:cs typeface="Meiryo" pitchFamily="34" charset="-120"/>
              </a:rPr>
              <a:t>「規模の縮小」ではない。</a:t>
            </a:r>
            <a:endParaRPr lang="en-US" sz="3400" dirty="0"/>
          </a:p>
        </p:txBody>
      </p:sp>
      <p:sp>
        <p:nvSpPr>
          <p:cNvPr id="6" name="Text 4"/>
          <p:cNvSpPr/>
          <p:nvPr/>
        </p:nvSpPr>
        <p:spPr>
          <a:xfrm>
            <a:off x="640080" y="2880360"/>
            <a:ext cx="10515600" cy="914400"/>
          </a:xfrm>
          <a:prstGeom prst="rect">
            <a:avLst/>
          </a:prstGeom>
          <a:noFill/>
          <a:ln/>
        </p:spPr>
        <p:txBody>
          <a:bodyPr wrap="square" lIns="0" tIns="0" rIns="0" bIns="0" rtlCol="0" anchor="ctr"/>
          <a:lstStyle/>
          <a:p>
            <a:pPr indent="0" marL="0">
              <a:buNone/>
            </a:pPr>
            <a:r>
              <a:rPr lang="en-US" sz="4800" b="1" dirty="0">
                <a:solidFill>
                  <a:srgbClr val="FFFFFF"/>
                </a:solidFill>
                <a:latin typeface="Meiryo" pitchFamily="34" charset="0"/>
                <a:ea typeface="Meiryo" pitchFamily="34" charset="-122"/>
                <a:cs typeface="Meiryo" pitchFamily="34" charset="-120"/>
              </a:rPr>
              <a:t>「濃度の極大化」だ。</a:t>
            </a:r>
            <a:endParaRPr lang="en-US" sz="4800" dirty="0"/>
          </a:p>
        </p:txBody>
      </p:sp>
      <p:sp>
        <p:nvSpPr>
          <p:cNvPr id="7" name="Shape 5"/>
          <p:cNvSpPr/>
          <p:nvPr/>
        </p:nvSpPr>
        <p:spPr>
          <a:xfrm>
            <a:off x="640080" y="4023360"/>
            <a:ext cx="2560320" cy="0"/>
          </a:xfrm>
          <a:prstGeom prst="line">
            <a:avLst/>
          </a:prstGeom>
          <a:noFill/>
          <a:ln w="38100">
            <a:solidFill>
              <a:srgbClr val="E2703A"/>
            </a:solidFill>
            <a:prstDash val="solid"/>
          </a:ln>
        </p:spPr>
      </p:sp>
      <p:sp>
        <p:nvSpPr>
          <p:cNvPr id="8" name="Text 6"/>
          <p:cNvSpPr/>
          <p:nvPr/>
        </p:nvSpPr>
        <p:spPr>
          <a:xfrm>
            <a:off x="640080" y="4297680"/>
            <a:ext cx="10424160" cy="1005840"/>
          </a:xfrm>
          <a:prstGeom prst="rect">
            <a:avLst/>
          </a:prstGeom>
          <a:noFill/>
          <a:ln/>
        </p:spPr>
        <p:txBody>
          <a:bodyPr wrap="square" lIns="0" tIns="0" rIns="0" bIns="0" rtlCol="0" anchor="t"/>
          <a:lstStyle/>
          <a:p>
            <a:pPr indent="0" marL="0">
              <a:lnSpc>
                <a:spcPts val="2400"/>
              </a:lnSpc>
              <a:buNone/>
            </a:pPr>
            <a:r>
              <a:rPr lang="en-US" sz="1400" dirty="0">
                <a:solidFill>
                  <a:srgbClr val="C3D1E2"/>
                </a:solidFill>
                <a:latin typeface="Meiryo" pitchFamily="34" charset="0"/>
                <a:ea typeface="Meiryo" pitchFamily="34" charset="-122"/>
                <a:cs typeface="Meiryo" pitchFamily="34" charset="-120"/>
              </a:rPr>
              <a:t>別府は古来より湯治客を受け入れてきた「多様性を受容する街」。年齢・国籍・職業に関わらず、誰もが服を脱いで同じ湯に浸かる——</a:t>
            </a:r>
            <a:endParaRPr lang="en-US" sz="1400" dirty="0"/>
          </a:p>
          <a:p>
            <a:pPr indent="0" marL="0">
              <a:lnSpc>
                <a:spcPts val="2400"/>
              </a:lnSpc>
              <a:buNone/>
            </a:pPr>
            <a:r>
              <a:rPr lang="en-US" sz="1400" dirty="0">
                <a:solidFill>
                  <a:srgbClr val="C3D1E2"/>
                </a:solidFill>
                <a:latin typeface="Meiryo" pitchFamily="34" charset="0"/>
                <a:ea typeface="Meiryo" pitchFamily="34" charset="-122"/>
                <a:cs typeface="Meiryo" pitchFamily="34" charset="-120"/>
              </a:rPr>
              <a:t>それ自体が究極のフラットなコミュニケーション装置である。</a:t>
            </a:r>
            <a:endParaRPr lang="en-US" sz="1400" dirty="0"/>
          </a:p>
        </p:txBody>
      </p:sp>
      <p:sp>
        <p:nvSpPr>
          <p:cNvPr id="9" name="Text 7"/>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FORMAT</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別府・旅館での「合宿型開催」が生む3つのメリット</a:t>
            </a:r>
            <a:endParaRPr lang="en-US" sz="3000" dirty="0"/>
          </a:p>
        </p:txBody>
      </p:sp>
      <p:sp>
        <p:nvSpPr>
          <p:cNvPr id="4" name="Text 2"/>
          <p:cNvSpPr/>
          <p:nvPr/>
        </p:nvSpPr>
        <p:spPr>
          <a:xfrm>
            <a:off x="640080" y="1298448"/>
            <a:ext cx="10881360" cy="365760"/>
          </a:xfrm>
          <a:prstGeom prst="rect">
            <a:avLst/>
          </a:prstGeom>
          <a:noFill/>
          <a:ln/>
        </p:spPr>
        <p:txBody>
          <a:bodyPr wrap="square" lIns="0" tIns="0" rIns="0" bIns="0" rtlCol="0" anchor="ctr"/>
          <a:lstStyle/>
          <a:p>
            <a:pPr indent="0" marL="0">
              <a:buNone/>
            </a:pPr>
            <a:r>
              <a:rPr lang="en-US" sz="1250" dirty="0">
                <a:solidFill>
                  <a:srgbClr val="667384"/>
                </a:solidFill>
                <a:latin typeface="Meiryo" pitchFamily="34" charset="0"/>
                <a:ea typeface="Meiryo" pitchFamily="34" charset="-122"/>
                <a:cs typeface="Meiryo" pitchFamily="34" charset="-120"/>
              </a:rPr>
              <a:t>大規模ホールでの講演スタイルを捨て、数十名規模の旅館貸し切りによるリトリート型を採用する。</a:t>
            </a:r>
            <a:endParaRPr lang="en-US" sz="1250" dirty="0"/>
          </a:p>
        </p:txBody>
      </p:sp>
      <p:sp>
        <p:nvSpPr>
          <p:cNvPr id="5" name="Shape 3"/>
          <p:cNvSpPr/>
          <p:nvPr/>
        </p:nvSpPr>
        <p:spPr>
          <a:xfrm>
            <a:off x="640080" y="1874520"/>
            <a:ext cx="10881360" cy="1051560"/>
          </a:xfrm>
          <a:prstGeom prst="roundRect">
            <a:avLst>
              <a:gd name="adj" fmla="val 6957"/>
            </a:avLst>
          </a:prstGeom>
          <a:solidFill>
            <a:srgbClr val="F6E3D6"/>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6" name="Text 4"/>
          <p:cNvSpPr/>
          <p:nvPr/>
        </p:nvSpPr>
        <p:spPr>
          <a:xfrm>
            <a:off x="932688" y="2075688"/>
            <a:ext cx="822960" cy="640080"/>
          </a:xfrm>
          <a:prstGeom prst="rect">
            <a:avLst/>
          </a:prstGeom>
          <a:noFill/>
          <a:ln/>
        </p:spPr>
        <p:txBody>
          <a:bodyPr wrap="square" lIns="0" tIns="0" rIns="0" bIns="0" rtlCol="0" anchor="ctr"/>
          <a:lstStyle/>
          <a:p>
            <a:pPr indent="0" marL="0">
              <a:buNone/>
            </a:pPr>
            <a:r>
              <a:rPr lang="en-US" sz="3000" b="1" dirty="0">
                <a:solidFill>
                  <a:srgbClr val="E2703A"/>
                </a:solidFill>
                <a:latin typeface="Meiryo" pitchFamily="34" charset="0"/>
                <a:ea typeface="Meiryo" pitchFamily="34" charset="-122"/>
                <a:cs typeface="Meiryo" pitchFamily="34" charset="-120"/>
              </a:rPr>
              <a:t>01</a:t>
            </a:r>
            <a:endParaRPr lang="en-US" sz="3000" dirty="0"/>
          </a:p>
        </p:txBody>
      </p:sp>
      <p:sp>
        <p:nvSpPr>
          <p:cNvPr id="7" name="Text 5"/>
          <p:cNvSpPr/>
          <p:nvPr/>
        </p:nvSpPr>
        <p:spPr>
          <a:xfrm>
            <a:off x="1874520" y="2039112"/>
            <a:ext cx="3474720" cy="365760"/>
          </a:xfrm>
          <a:prstGeom prst="rect">
            <a:avLst/>
          </a:prstGeom>
          <a:noFill/>
          <a:ln/>
        </p:spPr>
        <p:txBody>
          <a:bodyPr wrap="square" lIns="0" tIns="0" rIns="0" bIns="0" rtlCol="0" anchor="ctr"/>
          <a:lstStyle/>
          <a:p>
            <a:pPr indent="0" marL="0">
              <a:buNone/>
            </a:pPr>
            <a:r>
              <a:rPr lang="en-US" sz="1600" b="1" dirty="0">
                <a:solidFill>
                  <a:srgbClr val="132A4A"/>
                </a:solidFill>
                <a:latin typeface="Meiryo" pitchFamily="34" charset="0"/>
                <a:ea typeface="Meiryo" pitchFamily="34" charset="-122"/>
                <a:cs typeface="Meiryo" pitchFamily="34" charset="-120"/>
              </a:rPr>
              <a:t>運営コストの劇的な削減</a:t>
            </a:r>
            <a:endParaRPr lang="en-US" sz="1600" dirty="0"/>
          </a:p>
        </p:txBody>
      </p:sp>
      <p:sp>
        <p:nvSpPr>
          <p:cNvPr id="8" name="Text 6"/>
          <p:cNvSpPr/>
          <p:nvPr/>
        </p:nvSpPr>
        <p:spPr>
          <a:xfrm>
            <a:off x="5486400" y="2011680"/>
            <a:ext cx="5760720" cy="777240"/>
          </a:xfrm>
          <a:prstGeom prst="rect">
            <a:avLst/>
          </a:prstGeom>
          <a:noFill/>
          <a:ln/>
        </p:spPr>
        <p:txBody>
          <a:bodyPr wrap="square" lIns="0" tIns="0" rIns="0" bIns="0" rtlCol="0" anchor="ctr"/>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会場設営、移動手配、複数店舗での懇親会予約といったロジスティクスが「旅館という一つの閉鎖空間」に集約される。3名体制でも十分にコントロール可能。</a:t>
            </a:r>
            <a:endParaRPr lang="en-US" sz="1200" dirty="0"/>
          </a:p>
        </p:txBody>
      </p:sp>
      <p:sp>
        <p:nvSpPr>
          <p:cNvPr id="9" name="Shape 7"/>
          <p:cNvSpPr/>
          <p:nvPr/>
        </p:nvSpPr>
        <p:spPr>
          <a:xfrm>
            <a:off x="640080" y="3108960"/>
            <a:ext cx="10881360" cy="1051560"/>
          </a:xfrm>
          <a:prstGeom prst="roundRect">
            <a:avLst>
              <a:gd name="adj" fmla="val 6957"/>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0" name="Text 8"/>
          <p:cNvSpPr/>
          <p:nvPr/>
        </p:nvSpPr>
        <p:spPr>
          <a:xfrm>
            <a:off x="932688" y="3310128"/>
            <a:ext cx="822960" cy="640080"/>
          </a:xfrm>
          <a:prstGeom prst="rect">
            <a:avLst/>
          </a:prstGeom>
          <a:noFill/>
          <a:ln/>
        </p:spPr>
        <p:txBody>
          <a:bodyPr wrap="square" lIns="0" tIns="0" rIns="0" bIns="0" rtlCol="0" anchor="ctr"/>
          <a:lstStyle/>
          <a:p>
            <a:pPr indent="0" marL="0">
              <a:buNone/>
            </a:pPr>
            <a:r>
              <a:rPr lang="en-US" sz="3000" b="1" dirty="0">
                <a:solidFill>
                  <a:srgbClr val="C3CEDB"/>
                </a:solidFill>
                <a:latin typeface="Meiryo" pitchFamily="34" charset="0"/>
                <a:ea typeface="Meiryo" pitchFamily="34" charset="-122"/>
                <a:cs typeface="Meiryo" pitchFamily="34" charset="-120"/>
              </a:rPr>
              <a:t>02</a:t>
            </a:r>
            <a:endParaRPr lang="en-US" sz="3000" dirty="0"/>
          </a:p>
        </p:txBody>
      </p:sp>
      <p:sp>
        <p:nvSpPr>
          <p:cNvPr id="11" name="Text 9"/>
          <p:cNvSpPr/>
          <p:nvPr/>
        </p:nvSpPr>
        <p:spPr>
          <a:xfrm>
            <a:off x="1874520" y="3273552"/>
            <a:ext cx="3474720" cy="365760"/>
          </a:xfrm>
          <a:prstGeom prst="rect">
            <a:avLst/>
          </a:prstGeom>
          <a:noFill/>
          <a:ln/>
        </p:spPr>
        <p:txBody>
          <a:bodyPr wrap="square" lIns="0" tIns="0" rIns="0" bIns="0" rtlCol="0" anchor="ctr"/>
          <a:lstStyle/>
          <a:p>
            <a:pPr indent="0" marL="0">
              <a:buNone/>
            </a:pPr>
            <a:r>
              <a:rPr lang="en-US" sz="1600" b="1" dirty="0">
                <a:solidFill>
                  <a:srgbClr val="132A4A"/>
                </a:solidFill>
                <a:latin typeface="Meiryo" pitchFamily="34" charset="0"/>
                <a:ea typeface="Meiryo" pitchFamily="34" charset="-122"/>
                <a:cs typeface="Meiryo" pitchFamily="34" charset="-120"/>
              </a:rPr>
              <a:t>逃げ場のない濃密な対話</a:t>
            </a:r>
            <a:endParaRPr lang="en-US" sz="1600" dirty="0"/>
          </a:p>
        </p:txBody>
      </p:sp>
      <p:sp>
        <p:nvSpPr>
          <p:cNvPr id="12" name="Text 10"/>
          <p:cNvSpPr/>
          <p:nvPr/>
        </p:nvSpPr>
        <p:spPr>
          <a:xfrm>
            <a:off x="5486400" y="3246120"/>
            <a:ext cx="5760720" cy="777240"/>
          </a:xfrm>
          <a:prstGeom prst="rect">
            <a:avLst/>
          </a:prstGeom>
          <a:noFill/>
          <a:ln/>
        </p:spPr>
        <p:txBody>
          <a:bodyPr wrap="square" lIns="0" tIns="0" rIns="0" bIns="0" rtlCol="0" anchor="ctr"/>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同じ屋根の下で寝食を共にし、深夜まで議論を交わし、翌朝一緒に温泉に入る。高知の「ワーケーションと本編の融合」を、わずか1泊2日のパッケージで実現できる。</a:t>
            </a:r>
            <a:endParaRPr lang="en-US" sz="1200" dirty="0"/>
          </a:p>
        </p:txBody>
      </p:sp>
      <p:sp>
        <p:nvSpPr>
          <p:cNvPr id="13" name="Shape 11"/>
          <p:cNvSpPr/>
          <p:nvPr/>
        </p:nvSpPr>
        <p:spPr>
          <a:xfrm>
            <a:off x="640080" y="4343400"/>
            <a:ext cx="10881360" cy="1051560"/>
          </a:xfrm>
          <a:prstGeom prst="roundRect">
            <a:avLst>
              <a:gd name="adj" fmla="val 6957"/>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4" name="Text 12"/>
          <p:cNvSpPr/>
          <p:nvPr/>
        </p:nvSpPr>
        <p:spPr>
          <a:xfrm>
            <a:off x="932688" y="4544568"/>
            <a:ext cx="822960" cy="640080"/>
          </a:xfrm>
          <a:prstGeom prst="rect">
            <a:avLst/>
          </a:prstGeom>
          <a:noFill/>
          <a:ln/>
        </p:spPr>
        <p:txBody>
          <a:bodyPr wrap="square" lIns="0" tIns="0" rIns="0" bIns="0" rtlCol="0" anchor="ctr"/>
          <a:lstStyle/>
          <a:p>
            <a:pPr indent="0" marL="0">
              <a:buNone/>
            </a:pPr>
            <a:r>
              <a:rPr lang="en-US" sz="3000" b="1" dirty="0">
                <a:solidFill>
                  <a:srgbClr val="C3CEDB"/>
                </a:solidFill>
                <a:latin typeface="Meiryo" pitchFamily="34" charset="0"/>
                <a:ea typeface="Meiryo" pitchFamily="34" charset="-122"/>
                <a:cs typeface="Meiryo" pitchFamily="34" charset="-120"/>
              </a:rPr>
              <a:t>03</a:t>
            </a:r>
            <a:endParaRPr lang="en-US" sz="3000" dirty="0"/>
          </a:p>
        </p:txBody>
      </p:sp>
      <p:sp>
        <p:nvSpPr>
          <p:cNvPr id="15" name="Text 13"/>
          <p:cNvSpPr/>
          <p:nvPr/>
        </p:nvSpPr>
        <p:spPr>
          <a:xfrm>
            <a:off x="1874520" y="4507992"/>
            <a:ext cx="3474720" cy="365760"/>
          </a:xfrm>
          <a:prstGeom prst="rect">
            <a:avLst/>
          </a:prstGeom>
          <a:noFill/>
          <a:ln/>
        </p:spPr>
        <p:txBody>
          <a:bodyPr wrap="square" lIns="0" tIns="0" rIns="0" bIns="0" rtlCol="0" anchor="ctr"/>
          <a:lstStyle/>
          <a:p>
            <a:pPr indent="0" marL="0">
              <a:buNone/>
            </a:pPr>
            <a:r>
              <a:rPr lang="en-US" sz="1600" b="1" dirty="0">
                <a:solidFill>
                  <a:srgbClr val="132A4A"/>
                </a:solidFill>
                <a:latin typeface="Meiryo" pitchFamily="34" charset="0"/>
                <a:ea typeface="Meiryo" pitchFamily="34" charset="-122"/>
                <a:cs typeface="Meiryo" pitchFamily="34" charset="-120"/>
              </a:rPr>
              <a:t>プレミアム感による単価向上</a:t>
            </a:r>
            <a:endParaRPr lang="en-US" sz="1600" dirty="0"/>
          </a:p>
        </p:txBody>
      </p:sp>
      <p:sp>
        <p:nvSpPr>
          <p:cNvPr id="16" name="Text 14"/>
          <p:cNvSpPr/>
          <p:nvPr/>
        </p:nvSpPr>
        <p:spPr>
          <a:xfrm>
            <a:off x="5486400" y="4480560"/>
            <a:ext cx="5760720" cy="777240"/>
          </a:xfrm>
          <a:prstGeom prst="rect">
            <a:avLst/>
          </a:prstGeom>
          <a:noFill/>
          <a:ln/>
        </p:spPr>
        <p:txBody>
          <a:bodyPr wrap="square" lIns="0" tIns="0" rIns="0" bIns="0" rtlCol="0" anchor="ctr"/>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小規模であることを「限定性」と位置づけ、参加費・協賛費の単価を上げる。少ない集客でも損益分岐点を超える強靭な財務モデルを構築できる。</a:t>
            </a:r>
            <a:endParaRPr lang="en-US" sz="1200" dirty="0"/>
          </a:p>
        </p:txBody>
      </p:sp>
      <p:sp>
        <p:nvSpPr>
          <p:cNvPr id="17" name="Text 15"/>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A4A"/>
        </a:solidFill>
      </p:bgPr>
    </p:bg>
    <p:spTree>
      <p:nvGrpSpPr>
        <p:cNvPr id="1" name=""/>
        <p:cNvGrpSpPr/>
        <p:nvPr/>
      </p:nvGrpSpPr>
      <p:grpSpPr>
        <a:xfrm>
          <a:off x="0" y="0"/>
          <a:ext cx="0" cy="0"/>
          <a:chOff x="0" y="0"/>
          <a:chExt cx="0" cy="0"/>
        </a:xfrm>
      </p:grpSpPr>
      <p:sp>
        <p:nvSpPr>
          <p:cNvPr id="2" name="Shape 0"/>
          <p:cNvSpPr/>
          <p:nvPr/>
        </p:nvSpPr>
        <p:spPr>
          <a:xfrm>
            <a:off x="9052560" y="-1188720"/>
            <a:ext cx="4572000" cy="4572000"/>
          </a:xfrm>
          <a:prstGeom prst="ellipse">
            <a:avLst/>
          </a:prstGeom>
          <a:solidFill>
            <a:srgbClr val="1E3E6B"/>
          </a:solidFill>
          <a:ln w="12700">
            <a:solidFill>
              <a:srgbClr val="333333"/>
            </a:solidFill>
            <a:prstDash val="solid"/>
          </a:ln>
        </p:spPr>
      </p:sp>
      <p:sp>
        <p:nvSpPr>
          <p:cNvPr id="3" name="Text 1"/>
          <p:cNvSpPr/>
          <p:nvPr/>
        </p:nvSpPr>
        <p:spPr>
          <a:xfrm>
            <a:off x="640080" y="2331720"/>
            <a:ext cx="5486400" cy="320040"/>
          </a:xfrm>
          <a:prstGeom prst="rect">
            <a:avLst/>
          </a:prstGeom>
          <a:noFill/>
          <a:ln/>
        </p:spPr>
        <p:txBody>
          <a:bodyPr wrap="square" lIns="0" tIns="0" rIns="0" bIns="0" rtlCol="0" anchor="ctr"/>
          <a:lstStyle/>
          <a:p>
            <a:pPr indent="0" marL="0">
              <a:buNone/>
            </a:pPr>
            <a:r>
              <a:rPr lang="en-US" sz="1250" b="1" spc="200" kern="0" dirty="0">
                <a:solidFill>
                  <a:srgbClr val="E2703A"/>
                </a:solidFill>
                <a:latin typeface="Meiryo" pitchFamily="34" charset="0"/>
                <a:ea typeface="Meiryo" pitchFamily="34" charset="-122"/>
                <a:cs typeface="Meiryo" pitchFamily="34" charset="-120"/>
              </a:rPr>
              <a:t>SECTION 05</a:t>
            </a:r>
            <a:endParaRPr lang="en-US" sz="1250" dirty="0"/>
          </a:p>
        </p:txBody>
      </p:sp>
      <p:sp>
        <p:nvSpPr>
          <p:cNvPr id="4" name="Text 2"/>
          <p:cNvSpPr/>
          <p:nvPr/>
        </p:nvSpPr>
        <p:spPr>
          <a:xfrm>
            <a:off x="640080" y="2743200"/>
            <a:ext cx="8686800" cy="777240"/>
          </a:xfrm>
          <a:prstGeom prst="rect">
            <a:avLst/>
          </a:prstGeom>
          <a:noFill/>
          <a:ln/>
        </p:spPr>
        <p:txBody>
          <a:bodyPr wrap="square" lIns="0" tIns="0" rIns="0" bIns="0" rtlCol="0" anchor="ctr"/>
          <a:lstStyle/>
          <a:p>
            <a:pPr indent="0" marL="0">
              <a:buNone/>
            </a:pPr>
            <a:r>
              <a:rPr lang="en-US" sz="3800" b="1" dirty="0">
                <a:solidFill>
                  <a:srgbClr val="FFFFFF"/>
                </a:solidFill>
                <a:latin typeface="Meiryo" pitchFamily="34" charset="0"/>
                <a:ea typeface="Meiryo" pitchFamily="34" charset="-122"/>
                <a:cs typeface="Meiryo" pitchFamily="34" charset="-120"/>
              </a:rPr>
              <a:t>CLS別府の戦略的基盤</a:t>
            </a:r>
            <a:endParaRPr lang="en-US" sz="3800" dirty="0"/>
          </a:p>
        </p:txBody>
      </p:sp>
      <p:sp>
        <p:nvSpPr>
          <p:cNvPr id="5" name="Text 3"/>
          <p:cNvSpPr/>
          <p:nvPr/>
        </p:nvSpPr>
        <p:spPr>
          <a:xfrm>
            <a:off x="640080" y="3611880"/>
            <a:ext cx="8686800" cy="411480"/>
          </a:xfrm>
          <a:prstGeom prst="rect">
            <a:avLst/>
          </a:prstGeom>
          <a:noFill/>
          <a:ln/>
        </p:spPr>
        <p:txBody>
          <a:bodyPr wrap="square" lIns="0" tIns="0" rIns="0" bIns="0" rtlCol="0" anchor="ctr"/>
          <a:lstStyle/>
          <a:p>
            <a:pPr indent="0" marL="0">
              <a:buNone/>
            </a:pPr>
            <a:r>
              <a:rPr lang="en-US" sz="1600" dirty="0">
                <a:solidFill>
                  <a:srgbClr val="B9C7DA"/>
                </a:solidFill>
                <a:latin typeface="Meiryo" pitchFamily="34" charset="0"/>
                <a:ea typeface="Meiryo" pitchFamily="34" charset="-122"/>
                <a:cs typeface="Meiryo" pitchFamily="34" charset="-120"/>
              </a:rPr>
              <a:t>パーパス／ビジョン／ミッション／バリューのドラフト</a:t>
            </a:r>
            <a:endParaRPr lang="en-US" sz="1600" dirty="0"/>
          </a:p>
        </p:txBody>
      </p:sp>
      <p:sp>
        <p:nvSpPr>
          <p:cNvPr id="6" name="Text 4"/>
          <p:cNvSpPr/>
          <p:nvPr/>
        </p:nvSpPr>
        <p:spPr>
          <a:xfrm>
            <a:off x="640080" y="4480560"/>
            <a:ext cx="2377440" cy="365760"/>
          </a:xfrm>
          <a:prstGeom prst="rect">
            <a:avLst/>
          </a:prstGeom>
          <a:noFill/>
          <a:ln/>
        </p:spPr>
        <p:txBody>
          <a:bodyPr wrap="square" lIns="0" tIns="0" rIns="0" bIns="0" rtlCol="0" anchor="ctr"/>
          <a:lstStyle/>
          <a:p>
            <a:pPr indent="0" marL="0">
              <a:buNone/>
            </a:pPr>
            <a:r>
              <a:rPr lang="en-US" sz="1300" b="1" dirty="0">
                <a:solidFill>
                  <a:srgbClr val="E2703A"/>
                </a:solidFill>
                <a:latin typeface="Meiryo" pitchFamily="34" charset="0"/>
                <a:ea typeface="Meiryo" pitchFamily="34" charset="-122"/>
                <a:cs typeface="Meiryo" pitchFamily="34" charset="-120"/>
              </a:rPr>
              <a:t>P — Purpose</a:t>
            </a:r>
            <a:endParaRPr lang="en-US" sz="1300" dirty="0"/>
          </a:p>
        </p:txBody>
      </p:sp>
      <p:sp>
        <p:nvSpPr>
          <p:cNvPr id="7" name="Text 5"/>
          <p:cNvSpPr/>
          <p:nvPr/>
        </p:nvSpPr>
        <p:spPr>
          <a:xfrm>
            <a:off x="3154680" y="4480560"/>
            <a:ext cx="2377440" cy="365760"/>
          </a:xfrm>
          <a:prstGeom prst="rect">
            <a:avLst/>
          </a:prstGeom>
          <a:noFill/>
          <a:ln/>
        </p:spPr>
        <p:txBody>
          <a:bodyPr wrap="square" lIns="0" tIns="0" rIns="0" bIns="0" rtlCol="0" anchor="ctr"/>
          <a:lstStyle/>
          <a:p>
            <a:pPr indent="0" marL="0">
              <a:buNone/>
            </a:pPr>
            <a:r>
              <a:rPr lang="en-US" sz="1300" b="1" dirty="0">
                <a:solidFill>
                  <a:srgbClr val="6E82A0"/>
                </a:solidFill>
                <a:latin typeface="Meiryo" pitchFamily="34" charset="0"/>
                <a:ea typeface="Meiryo" pitchFamily="34" charset="-122"/>
                <a:cs typeface="Meiryo" pitchFamily="34" charset="-120"/>
              </a:rPr>
              <a:t>V — Vision</a:t>
            </a:r>
            <a:endParaRPr lang="en-US" sz="1300" dirty="0"/>
          </a:p>
        </p:txBody>
      </p:sp>
      <p:sp>
        <p:nvSpPr>
          <p:cNvPr id="8" name="Text 6"/>
          <p:cNvSpPr/>
          <p:nvPr/>
        </p:nvSpPr>
        <p:spPr>
          <a:xfrm>
            <a:off x="5669280" y="4480560"/>
            <a:ext cx="2377440" cy="365760"/>
          </a:xfrm>
          <a:prstGeom prst="rect">
            <a:avLst/>
          </a:prstGeom>
          <a:noFill/>
          <a:ln/>
        </p:spPr>
        <p:txBody>
          <a:bodyPr wrap="square" lIns="0" tIns="0" rIns="0" bIns="0" rtlCol="0" anchor="ctr"/>
          <a:lstStyle/>
          <a:p>
            <a:pPr indent="0" marL="0">
              <a:buNone/>
            </a:pPr>
            <a:r>
              <a:rPr lang="en-US" sz="1300" b="1" dirty="0">
                <a:solidFill>
                  <a:srgbClr val="6E82A0"/>
                </a:solidFill>
                <a:latin typeface="Meiryo" pitchFamily="34" charset="0"/>
                <a:ea typeface="Meiryo" pitchFamily="34" charset="-122"/>
                <a:cs typeface="Meiryo" pitchFamily="34" charset="-120"/>
              </a:rPr>
              <a:t>M — Mission</a:t>
            </a:r>
            <a:endParaRPr lang="en-US" sz="1300" dirty="0"/>
          </a:p>
        </p:txBody>
      </p:sp>
      <p:sp>
        <p:nvSpPr>
          <p:cNvPr id="9" name="Text 7"/>
          <p:cNvSpPr/>
          <p:nvPr/>
        </p:nvSpPr>
        <p:spPr>
          <a:xfrm>
            <a:off x="8183880" y="4480560"/>
            <a:ext cx="2377440" cy="365760"/>
          </a:xfrm>
          <a:prstGeom prst="rect">
            <a:avLst/>
          </a:prstGeom>
          <a:noFill/>
          <a:ln/>
        </p:spPr>
        <p:txBody>
          <a:bodyPr wrap="square" lIns="0" tIns="0" rIns="0" bIns="0" rtlCol="0" anchor="ctr"/>
          <a:lstStyle/>
          <a:p>
            <a:pPr indent="0" marL="0">
              <a:buNone/>
            </a:pPr>
            <a:r>
              <a:rPr lang="en-US" sz="1300" b="1" dirty="0">
                <a:solidFill>
                  <a:srgbClr val="6E82A0"/>
                </a:solidFill>
                <a:latin typeface="Meiryo" pitchFamily="34" charset="0"/>
                <a:ea typeface="Meiryo" pitchFamily="34" charset="-122"/>
                <a:cs typeface="Meiryo" pitchFamily="34" charset="-120"/>
              </a:rPr>
              <a:t>V — Values</a:t>
            </a:r>
            <a:endParaRPr lang="en-US" sz="1300" dirty="0"/>
          </a:p>
        </p:txBody>
      </p:sp>
      <p:sp>
        <p:nvSpPr>
          <p:cNvPr id="10" name="Text 8"/>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PURPOSE ／ 存在意義</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パーパス案</a:t>
            </a:r>
            <a:endParaRPr lang="en-US" sz="3000" dirty="0"/>
          </a:p>
        </p:txBody>
      </p:sp>
      <p:sp>
        <p:nvSpPr>
          <p:cNvPr id="4" name="Shape 2"/>
          <p:cNvSpPr/>
          <p:nvPr/>
        </p:nvSpPr>
        <p:spPr>
          <a:xfrm>
            <a:off x="640080" y="1463040"/>
            <a:ext cx="10881360" cy="1371600"/>
          </a:xfrm>
          <a:prstGeom prst="roundRect">
            <a:avLst>
              <a:gd name="adj" fmla="val 5333"/>
            </a:avLst>
          </a:prstGeom>
          <a:solidFill>
            <a:srgbClr val="F6E3D6"/>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5" name="Text 3"/>
          <p:cNvSpPr/>
          <p:nvPr/>
        </p:nvSpPr>
        <p:spPr>
          <a:xfrm>
            <a:off x="1005840" y="1463040"/>
            <a:ext cx="822960" cy="1371600"/>
          </a:xfrm>
          <a:prstGeom prst="rect">
            <a:avLst/>
          </a:prstGeom>
          <a:noFill/>
          <a:ln/>
        </p:spPr>
        <p:txBody>
          <a:bodyPr wrap="square" lIns="0" tIns="0" rIns="0" bIns="0" rtlCol="0" anchor="ctr"/>
          <a:lstStyle/>
          <a:p>
            <a:pPr indent="0" marL="0">
              <a:buNone/>
            </a:pPr>
            <a:r>
              <a:rPr lang="en-US" sz="1300" b="1" dirty="0">
                <a:solidFill>
                  <a:srgbClr val="E2703A"/>
                </a:solidFill>
                <a:latin typeface="Meiryo" pitchFamily="34" charset="0"/>
                <a:ea typeface="Meiryo" pitchFamily="34" charset="-122"/>
                <a:cs typeface="Meiryo" pitchFamily="34" charset="-120"/>
              </a:rPr>
              <a:t>【案】</a:t>
            </a:r>
            <a:endParaRPr lang="en-US" sz="1300" dirty="0"/>
          </a:p>
        </p:txBody>
      </p:sp>
      <p:sp>
        <p:nvSpPr>
          <p:cNvPr id="6" name="Text 4"/>
          <p:cNvSpPr/>
          <p:nvPr/>
        </p:nvSpPr>
        <p:spPr>
          <a:xfrm>
            <a:off x="1828800" y="1463040"/>
            <a:ext cx="9326880" cy="1371600"/>
          </a:xfrm>
          <a:prstGeom prst="rect">
            <a:avLst/>
          </a:prstGeom>
          <a:noFill/>
          <a:ln/>
        </p:spPr>
        <p:txBody>
          <a:bodyPr wrap="square" lIns="0" tIns="0" rIns="0" bIns="0" rtlCol="0" anchor="ctr"/>
          <a:lstStyle/>
          <a:p>
            <a:pPr indent="0" marL="0">
              <a:buNone/>
            </a:pPr>
            <a:r>
              <a:rPr lang="en-US" sz="3000" b="1" dirty="0">
                <a:solidFill>
                  <a:srgbClr val="132A4A"/>
                </a:solidFill>
                <a:latin typeface="Meiryo" pitchFamily="34" charset="0"/>
                <a:ea typeface="Meiryo" pitchFamily="34" charset="-122"/>
                <a:cs typeface="Meiryo" pitchFamily="34" charset="-120"/>
              </a:rPr>
              <a:t>「源泉」となり、挑戦者の熱を全国へ波及させる</a:t>
            </a:r>
            <a:endParaRPr lang="en-US" sz="3000" dirty="0"/>
          </a:p>
        </p:txBody>
      </p:sp>
      <p:sp>
        <p:nvSpPr>
          <p:cNvPr id="7" name="Text 5"/>
          <p:cNvSpPr/>
          <p:nvPr/>
        </p:nvSpPr>
        <p:spPr>
          <a:xfrm>
            <a:off x="640080" y="3108960"/>
            <a:ext cx="1828800" cy="320040"/>
          </a:xfrm>
          <a:prstGeom prst="rect">
            <a:avLst/>
          </a:prstGeom>
          <a:noFill/>
          <a:ln/>
        </p:spPr>
        <p:txBody>
          <a:bodyPr wrap="square" lIns="0" tIns="0" rIns="0" bIns="0" rtlCol="0" anchor="ctr"/>
          <a:lstStyle/>
          <a:p>
            <a:pPr indent="0" marL="0">
              <a:buNone/>
            </a:pPr>
            <a:r>
              <a:rPr lang="en-US" sz="1300" b="1" dirty="0">
                <a:solidFill>
                  <a:srgbClr val="E2703A"/>
                </a:solidFill>
                <a:latin typeface="Meiryo" pitchFamily="34" charset="0"/>
                <a:ea typeface="Meiryo" pitchFamily="34" charset="-122"/>
                <a:cs typeface="Meiryo" pitchFamily="34" charset="-120"/>
              </a:rPr>
              <a:t>解説</a:t>
            </a:r>
            <a:endParaRPr lang="en-US" sz="1300" dirty="0"/>
          </a:p>
        </p:txBody>
      </p:sp>
      <p:sp>
        <p:nvSpPr>
          <p:cNvPr id="8" name="Text 6"/>
          <p:cNvSpPr/>
          <p:nvPr/>
        </p:nvSpPr>
        <p:spPr>
          <a:xfrm>
            <a:off x="640080" y="3474720"/>
            <a:ext cx="10515600" cy="1097280"/>
          </a:xfrm>
          <a:prstGeom prst="rect">
            <a:avLst/>
          </a:prstGeom>
          <a:noFill/>
          <a:ln/>
        </p:spPr>
        <p:txBody>
          <a:bodyPr wrap="square" lIns="0" tIns="0" rIns="0" bIns="0" rtlCol="0" anchor="t"/>
          <a:lstStyle/>
          <a:p>
            <a:pPr indent="0" marL="0">
              <a:lnSpc>
                <a:spcPts val="2700"/>
              </a:lnSpc>
              <a:buNone/>
            </a:pPr>
            <a:r>
              <a:rPr lang="en-US" sz="1500" dirty="0">
                <a:solidFill>
                  <a:srgbClr val="1F2933"/>
                </a:solidFill>
                <a:latin typeface="Meiryo" pitchFamily="34" charset="0"/>
                <a:ea typeface="Meiryo" pitchFamily="34" charset="-122"/>
                <a:cs typeface="Meiryo" pitchFamily="34" charset="-120"/>
              </a:rPr>
              <a:t>別府の至る所から湧き出る温泉のように、ここを訪れた人々の内側にある「やりたいこと」「解決したい課題」という熱を沸き立たせる場となること。そして、その熱が参加者の地元や所属組織へと持ち帰られ、次なる行動の源泉となる。</a:t>
            </a:r>
            <a:endParaRPr lang="en-US" sz="1500" dirty="0"/>
          </a:p>
        </p:txBody>
      </p:sp>
      <p:sp>
        <p:nvSpPr>
          <p:cNvPr id="9" name="Shape 7"/>
          <p:cNvSpPr/>
          <p:nvPr/>
        </p:nvSpPr>
        <p:spPr>
          <a:xfrm>
            <a:off x="640080" y="4709160"/>
            <a:ext cx="10881360" cy="914400"/>
          </a:xfrm>
          <a:prstGeom prst="roundRect">
            <a:avLst>
              <a:gd name="adj" fmla="val 8000"/>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0" name="Text 8"/>
          <p:cNvSpPr/>
          <p:nvPr/>
        </p:nvSpPr>
        <p:spPr>
          <a:xfrm>
            <a:off x="960120" y="4709160"/>
            <a:ext cx="10241280" cy="914400"/>
          </a:xfrm>
          <a:prstGeom prst="rect">
            <a:avLst/>
          </a:prstGeom>
          <a:noFill/>
          <a:ln/>
        </p:spPr>
        <p:txBody>
          <a:bodyPr wrap="square" lIns="0" tIns="0" rIns="0" bIns="0" rtlCol="0" anchor="ctr"/>
          <a:lstStyle/>
          <a:p>
            <a:pPr indent="0" marL="0">
              <a:buNone/>
            </a:pPr>
            <a:r>
              <a:rPr lang="en-US" sz="1250" dirty="0">
                <a:solidFill>
                  <a:srgbClr val="667384"/>
                </a:solidFill>
                <a:latin typeface="Meiryo" pitchFamily="34" charset="0"/>
                <a:ea typeface="Meiryo" pitchFamily="34" charset="-122"/>
                <a:cs typeface="Meiryo" pitchFamily="34" charset="-120"/>
              </a:rPr>
              <a:t>根拠：第0回で参加者から自然発生した「同じ湯の中」というキーワードが、すでにCLS別府のコア概念として機能している。</a:t>
            </a:r>
            <a:endParaRPr lang="en-US" sz="1250" dirty="0"/>
          </a:p>
        </p:txBody>
      </p:sp>
      <p:sp>
        <p:nvSpPr>
          <p:cNvPr id="11" name="Text 9"/>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VISION ／ MISSION</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ビジョン案とミッション案</a:t>
            </a:r>
            <a:endParaRPr lang="en-US" sz="3000" dirty="0"/>
          </a:p>
        </p:txBody>
      </p:sp>
      <p:sp>
        <p:nvSpPr>
          <p:cNvPr id="4" name="Shape 2"/>
          <p:cNvSpPr/>
          <p:nvPr/>
        </p:nvSpPr>
        <p:spPr>
          <a:xfrm>
            <a:off x="640080" y="1463040"/>
            <a:ext cx="5349240" cy="4160520"/>
          </a:xfrm>
          <a:prstGeom prst="roundRect">
            <a:avLst>
              <a:gd name="adj" fmla="val 1758"/>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5" name="Shape 3"/>
          <p:cNvSpPr/>
          <p:nvPr/>
        </p:nvSpPr>
        <p:spPr>
          <a:xfrm>
            <a:off x="640080" y="1463040"/>
            <a:ext cx="5349240" cy="658368"/>
          </a:xfrm>
          <a:prstGeom prst="roundRect">
            <a:avLst>
              <a:gd name="adj" fmla="val 11111"/>
            </a:avLst>
          </a:prstGeom>
          <a:solidFill>
            <a:srgbClr val="132A4A"/>
          </a:solidFill>
          <a:ln w="12700">
            <a:solidFill>
              <a:srgbClr val="333333"/>
            </a:solidFill>
            <a:prstDash val="solid"/>
          </a:ln>
        </p:spPr>
      </p:sp>
      <p:sp>
        <p:nvSpPr>
          <p:cNvPr id="6" name="Text 4"/>
          <p:cNvSpPr/>
          <p:nvPr/>
        </p:nvSpPr>
        <p:spPr>
          <a:xfrm>
            <a:off x="914400" y="1463040"/>
            <a:ext cx="2011680" cy="658368"/>
          </a:xfrm>
          <a:prstGeom prst="rect">
            <a:avLst/>
          </a:prstGeom>
          <a:noFill/>
          <a:ln/>
        </p:spPr>
        <p:txBody>
          <a:bodyPr wrap="square" lIns="0" tIns="0" rIns="0" bIns="0" rtlCol="0" anchor="ctr"/>
          <a:lstStyle/>
          <a:p>
            <a:pPr indent="0" marL="0">
              <a:buNone/>
            </a:pPr>
            <a:r>
              <a:rPr lang="en-US" sz="1400" b="1" spc="200" kern="0" dirty="0">
                <a:solidFill>
                  <a:srgbClr val="FFFFFF"/>
                </a:solidFill>
                <a:latin typeface="Meiryo" pitchFamily="34" charset="0"/>
                <a:ea typeface="Meiryo" pitchFamily="34" charset="-122"/>
                <a:cs typeface="Meiryo" pitchFamily="34" charset="-120"/>
              </a:rPr>
              <a:t>VISION</a:t>
            </a:r>
            <a:endParaRPr lang="en-US" sz="1400" dirty="0"/>
          </a:p>
        </p:txBody>
      </p:sp>
      <p:sp>
        <p:nvSpPr>
          <p:cNvPr id="7" name="Text 5"/>
          <p:cNvSpPr/>
          <p:nvPr/>
        </p:nvSpPr>
        <p:spPr>
          <a:xfrm>
            <a:off x="2926080" y="1463040"/>
            <a:ext cx="2834640" cy="658368"/>
          </a:xfrm>
          <a:prstGeom prst="rect">
            <a:avLst/>
          </a:prstGeom>
          <a:noFill/>
          <a:ln/>
        </p:spPr>
        <p:txBody>
          <a:bodyPr wrap="square" lIns="0" tIns="0" rIns="0" bIns="0" rtlCol="0" anchor="ctr"/>
          <a:lstStyle/>
          <a:p>
            <a:pPr algn="r" indent="0" marL="0">
              <a:buNone/>
            </a:pPr>
            <a:r>
              <a:rPr lang="en-US" sz="1200" dirty="0">
                <a:solidFill>
                  <a:srgbClr val="D9E3EF"/>
                </a:solidFill>
                <a:latin typeface="Meiryo" pitchFamily="34" charset="0"/>
                <a:ea typeface="Meiryo" pitchFamily="34" charset="-122"/>
                <a:cs typeface="Meiryo" pitchFamily="34" charset="-120"/>
              </a:rPr>
              <a:t>目指す未来の姿</a:t>
            </a:r>
            <a:endParaRPr lang="en-US" sz="1200" dirty="0"/>
          </a:p>
        </p:txBody>
      </p:sp>
      <p:sp>
        <p:nvSpPr>
          <p:cNvPr id="8" name="Text 6"/>
          <p:cNvSpPr/>
          <p:nvPr/>
        </p:nvSpPr>
        <p:spPr>
          <a:xfrm>
            <a:off x="914400" y="2331720"/>
            <a:ext cx="4800600" cy="1143000"/>
          </a:xfrm>
          <a:prstGeom prst="rect">
            <a:avLst/>
          </a:prstGeom>
          <a:noFill/>
          <a:ln/>
        </p:spPr>
        <p:txBody>
          <a:bodyPr wrap="square" lIns="0" tIns="0" rIns="0" bIns="0" rtlCol="0" anchor="t"/>
          <a:lstStyle/>
          <a:p>
            <a:pPr indent="0" marL="0">
              <a:lnSpc>
                <a:spcPts val="3100"/>
              </a:lnSpc>
              <a:buNone/>
            </a:pPr>
            <a:r>
              <a:rPr lang="en-US" sz="2100" b="1" dirty="0">
                <a:solidFill>
                  <a:srgbClr val="132A4A"/>
                </a:solidFill>
                <a:latin typeface="Meiryo" pitchFamily="34" charset="0"/>
                <a:ea typeface="Meiryo" pitchFamily="34" charset="-122"/>
                <a:cs typeface="Meiryo" pitchFamily="34" charset="-120"/>
              </a:rPr>
              <a:t>「越境」が日常になる社会</a:t>
            </a:r>
            <a:endParaRPr lang="en-US" sz="2100" dirty="0"/>
          </a:p>
        </p:txBody>
      </p:sp>
      <p:sp>
        <p:nvSpPr>
          <p:cNvPr id="9" name="Text 7"/>
          <p:cNvSpPr/>
          <p:nvPr/>
        </p:nvSpPr>
        <p:spPr>
          <a:xfrm>
            <a:off x="914400" y="3310128"/>
            <a:ext cx="4800600" cy="365760"/>
          </a:xfrm>
          <a:prstGeom prst="rect">
            <a:avLst/>
          </a:prstGeom>
          <a:noFill/>
          <a:ln/>
        </p:spPr>
        <p:txBody>
          <a:bodyPr wrap="square" lIns="0" tIns="0" rIns="0" bIns="0" rtlCol="0" anchor="ctr"/>
          <a:lstStyle/>
          <a:p>
            <a:pPr indent="0" marL="0">
              <a:buNone/>
            </a:pPr>
            <a:r>
              <a:rPr lang="en-US" sz="1250" dirty="0">
                <a:solidFill>
                  <a:srgbClr val="667384"/>
                </a:solidFill>
                <a:latin typeface="Meiryo" pitchFamily="34" charset="0"/>
                <a:ea typeface="Meiryo" pitchFamily="34" charset="-122"/>
                <a:cs typeface="Meiryo" pitchFamily="34" charset="-120"/>
              </a:rPr>
              <a:t>〜誰もがフラットに混ざり合う、開かれた地域モデル〜</a:t>
            </a:r>
            <a:endParaRPr lang="en-US" sz="1250" dirty="0"/>
          </a:p>
        </p:txBody>
      </p:sp>
      <p:sp>
        <p:nvSpPr>
          <p:cNvPr id="10" name="Text 8"/>
          <p:cNvSpPr/>
          <p:nvPr/>
        </p:nvSpPr>
        <p:spPr>
          <a:xfrm>
            <a:off x="914400" y="3767328"/>
            <a:ext cx="4800600" cy="1691640"/>
          </a:xfrm>
          <a:prstGeom prst="rect">
            <a:avLst/>
          </a:prstGeom>
          <a:noFill/>
          <a:ln/>
        </p:spPr>
        <p:txBody>
          <a:bodyPr wrap="square" lIns="0" tIns="0" rIns="0" bIns="0" rtlCol="0" anchor="t"/>
          <a:lstStyle/>
          <a:p>
            <a:pPr indent="0" marL="0">
              <a:lnSpc>
                <a:spcPts val="2000"/>
              </a:lnSpc>
              <a:buNone/>
            </a:pPr>
            <a:r>
              <a:rPr lang="en-US" sz="1200" dirty="0">
                <a:solidFill>
                  <a:srgbClr val="1F2933"/>
                </a:solidFill>
                <a:latin typeface="Meiryo" pitchFamily="34" charset="0"/>
                <a:ea typeface="Meiryo" pitchFamily="34" charset="-122"/>
                <a:cs typeface="Meiryo" pitchFamily="34" charset="-120"/>
              </a:rPr>
              <a:t>若林氏の「コミュニティは越境の場」という哲学を社会実装する。ITと非IT、都市と地方、経営者と学生など、普段は交わらない人々が温泉地という非日常空間で自然と交わり、互いの境界線を越えることが当たり前になる未来を描く。</a:t>
            </a:r>
            <a:endParaRPr lang="en-US" sz="1200" dirty="0"/>
          </a:p>
        </p:txBody>
      </p:sp>
      <p:sp>
        <p:nvSpPr>
          <p:cNvPr id="11" name="Shape 9"/>
          <p:cNvSpPr/>
          <p:nvPr/>
        </p:nvSpPr>
        <p:spPr>
          <a:xfrm>
            <a:off x="6263640" y="1463040"/>
            <a:ext cx="5349240" cy="4160520"/>
          </a:xfrm>
          <a:prstGeom prst="roundRect">
            <a:avLst>
              <a:gd name="adj" fmla="val 1758"/>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2" name="Shape 10"/>
          <p:cNvSpPr/>
          <p:nvPr/>
        </p:nvSpPr>
        <p:spPr>
          <a:xfrm>
            <a:off x="6263640" y="1463040"/>
            <a:ext cx="5349240" cy="658368"/>
          </a:xfrm>
          <a:prstGeom prst="roundRect">
            <a:avLst>
              <a:gd name="adj" fmla="val 11111"/>
            </a:avLst>
          </a:prstGeom>
          <a:solidFill>
            <a:srgbClr val="E2703A"/>
          </a:solidFill>
          <a:ln w="12700">
            <a:solidFill>
              <a:srgbClr val="333333"/>
            </a:solidFill>
            <a:prstDash val="solid"/>
          </a:ln>
        </p:spPr>
      </p:sp>
      <p:sp>
        <p:nvSpPr>
          <p:cNvPr id="13" name="Text 11"/>
          <p:cNvSpPr/>
          <p:nvPr/>
        </p:nvSpPr>
        <p:spPr>
          <a:xfrm>
            <a:off x="6537960" y="1463040"/>
            <a:ext cx="2011680" cy="658368"/>
          </a:xfrm>
          <a:prstGeom prst="rect">
            <a:avLst/>
          </a:prstGeom>
          <a:noFill/>
          <a:ln/>
        </p:spPr>
        <p:txBody>
          <a:bodyPr wrap="square" lIns="0" tIns="0" rIns="0" bIns="0" rtlCol="0" anchor="ctr"/>
          <a:lstStyle/>
          <a:p>
            <a:pPr indent="0" marL="0">
              <a:buNone/>
            </a:pPr>
            <a:r>
              <a:rPr lang="en-US" sz="1400" b="1" spc="200" kern="0" dirty="0">
                <a:solidFill>
                  <a:srgbClr val="FFFFFF"/>
                </a:solidFill>
                <a:latin typeface="Meiryo" pitchFamily="34" charset="0"/>
                <a:ea typeface="Meiryo" pitchFamily="34" charset="-122"/>
                <a:cs typeface="Meiryo" pitchFamily="34" charset="-120"/>
              </a:rPr>
              <a:t>MISSION</a:t>
            </a:r>
            <a:endParaRPr lang="en-US" sz="1400" dirty="0"/>
          </a:p>
        </p:txBody>
      </p:sp>
      <p:sp>
        <p:nvSpPr>
          <p:cNvPr id="14" name="Text 12"/>
          <p:cNvSpPr/>
          <p:nvPr/>
        </p:nvSpPr>
        <p:spPr>
          <a:xfrm>
            <a:off x="8549640" y="1463040"/>
            <a:ext cx="2834640" cy="658368"/>
          </a:xfrm>
          <a:prstGeom prst="rect">
            <a:avLst/>
          </a:prstGeom>
          <a:noFill/>
          <a:ln/>
        </p:spPr>
        <p:txBody>
          <a:bodyPr wrap="square" lIns="0" tIns="0" rIns="0" bIns="0" rtlCol="0" anchor="ctr"/>
          <a:lstStyle/>
          <a:p>
            <a:pPr algn="r" indent="0" marL="0">
              <a:buNone/>
            </a:pPr>
            <a:r>
              <a:rPr lang="en-US" sz="1200" dirty="0">
                <a:solidFill>
                  <a:srgbClr val="D9E3EF"/>
                </a:solidFill>
                <a:latin typeface="Meiryo" pitchFamily="34" charset="0"/>
                <a:ea typeface="Meiryo" pitchFamily="34" charset="-122"/>
                <a:cs typeface="Meiryo" pitchFamily="34" charset="-120"/>
              </a:rPr>
              <a:t>果たすべき使命</a:t>
            </a:r>
            <a:endParaRPr lang="en-US" sz="1200" dirty="0"/>
          </a:p>
        </p:txBody>
      </p:sp>
      <p:sp>
        <p:nvSpPr>
          <p:cNvPr id="15" name="Text 13"/>
          <p:cNvSpPr/>
          <p:nvPr/>
        </p:nvSpPr>
        <p:spPr>
          <a:xfrm>
            <a:off x="6537960" y="2331720"/>
            <a:ext cx="4800600" cy="1143000"/>
          </a:xfrm>
          <a:prstGeom prst="rect">
            <a:avLst/>
          </a:prstGeom>
          <a:noFill/>
          <a:ln/>
        </p:spPr>
        <p:txBody>
          <a:bodyPr wrap="square" lIns="0" tIns="0" rIns="0" bIns="0" rtlCol="0" anchor="t"/>
          <a:lstStyle/>
          <a:p>
            <a:pPr indent="0" marL="0">
              <a:lnSpc>
                <a:spcPts val="3100"/>
              </a:lnSpc>
              <a:buNone/>
            </a:pPr>
            <a:r>
              <a:rPr lang="en-US" sz="2100" b="1" dirty="0">
                <a:solidFill>
                  <a:srgbClr val="132A4A"/>
                </a:solidFill>
                <a:latin typeface="Meiryo" pitchFamily="34" charset="0"/>
                <a:ea typeface="Meiryo" pitchFamily="34" charset="-122"/>
                <a:cs typeface="Meiryo" pitchFamily="34" charset="-120"/>
              </a:rPr>
              <a:t>同じ湯に浸かり、</a:t>
            </a:r>
            <a:endParaRPr lang="en-US" sz="2100" dirty="0"/>
          </a:p>
          <a:p>
            <a:pPr indent="0" marL="0">
              <a:lnSpc>
                <a:spcPts val="3100"/>
              </a:lnSpc>
              <a:buNone/>
            </a:pPr>
            <a:r>
              <a:rPr lang="en-US" sz="2100" b="1" dirty="0">
                <a:solidFill>
                  <a:srgbClr val="132A4A"/>
                </a:solidFill>
                <a:latin typeface="Meiryo" pitchFamily="34" charset="0"/>
                <a:ea typeface="Meiryo" pitchFamily="34" charset="-122"/>
                <a:cs typeface="Meiryo" pitchFamily="34" charset="-120"/>
              </a:rPr>
              <a:t>次の一歩の背中を力強く押す</a:t>
            </a:r>
            <a:endParaRPr lang="en-US" sz="2100" dirty="0"/>
          </a:p>
        </p:txBody>
      </p:sp>
      <p:sp>
        <p:nvSpPr>
          <p:cNvPr id="16" name="Text 14"/>
          <p:cNvSpPr/>
          <p:nvPr/>
        </p:nvSpPr>
        <p:spPr>
          <a:xfrm>
            <a:off x="6537960" y="3767328"/>
            <a:ext cx="4800600" cy="1691640"/>
          </a:xfrm>
          <a:prstGeom prst="rect">
            <a:avLst/>
          </a:prstGeom>
          <a:noFill/>
          <a:ln/>
        </p:spPr>
        <p:txBody>
          <a:bodyPr wrap="square" lIns="0" tIns="0" rIns="0" bIns="0" rtlCol="0" anchor="t"/>
          <a:lstStyle/>
          <a:p>
            <a:pPr indent="0" marL="0">
              <a:lnSpc>
                <a:spcPts val="2000"/>
              </a:lnSpc>
              <a:buNone/>
            </a:pPr>
            <a:r>
              <a:rPr lang="en-US" sz="1200" dirty="0">
                <a:solidFill>
                  <a:srgbClr val="1F2933"/>
                </a:solidFill>
                <a:latin typeface="Meiryo" pitchFamily="34" charset="0"/>
                <a:ea typeface="Meiryo" pitchFamily="34" charset="-122"/>
                <a:cs typeface="Meiryo" pitchFamily="34" charset="-120"/>
              </a:rPr>
              <a:t>平野氏の「可能性の開花と前進を応援する」に直結。合宿型という濃密な空間で参加者同士が深いレベルで自己開示を行い（同じ湯に浸かり）、一人では踏み出せなかった挑戦への最初のアクションを誘発する（背中を押す）。</a:t>
            </a:r>
            <a:endParaRPr lang="en-US" sz="1200" dirty="0"/>
          </a:p>
        </p:txBody>
      </p:sp>
      <p:sp>
        <p:nvSpPr>
          <p:cNvPr id="17" name="Text 15"/>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VALUES ／ 行動指針</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運営・参加者に求める3つの行動指針</a:t>
            </a:r>
            <a:endParaRPr lang="en-US" sz="3000" dirty="0"/>
          </a:p>
        </p:txBody>
      </p:sp>
      <p:sp>
        <p:nvSpPr>
          <p:cNvPr id="4" name="Text 2"/>
          <p:cNvSpPr/>
          <p:nvPr/>
        </p:nvSpPr>
        <p:spPr>
          <a:xfrm>
            <a:off x="640080" y="1298448"/>
            <a:ext cx="10881360" cy="365760"/>
          </a:xfrm>
          <a:prstGeom prst="rect">
            <a:avLst/>
          </a:prstGeom>
          <a:noFill/>
          <a:ln/>
        </p:spPr>
        <p:txBody>
          <a:bodyPr wrap="square" lIns="0" tIns="0" rIns="0" bIns="0" rtlCol="0" anchor="ctr"/>
          <a:lstStyle/>
          <a:p>
            <a:pPr indent="0" marL="0">
              <a:buNone/>
            </a:pPr>
            <a:r>
              <a:rPr lang="en-US" sz="1250" dirty="0">
                <a:solidFill>
                  <a:srgbClr val="667384"/>
                </a:solidFill>
                <a:latin typeface="Meiryo" pitchFamily="34" charset="0"/>
                <a:ea typeface="Meiryo" pitchFamily="34" charset="-122"/>
                <a:cs typeface="Meiryo" pitchFamily="34" charset="-120"/>
              </a:rPr>
              <a:t>CLS高知のDNAである「#ヤリキル」「#オモシロガル」を引き継ぎつつ、別府独自のトーン＆マナーを加える。</a:t>
            </a:r>
            <a:endParaRPr lang="en-US" sz="1250" dirty="0"/>
          </a:p>
        </p:txBody>
      </p:sp>
      <p:sp>
        <p:nvSpPr>
          <p:cNvPr id="5" name="Shape 3"/>
          <p:cNvSpPr/>
          <p:nvPr/>
        </p:nvSpPr>
        <p:spPr>
          <a:xfrm>
            <a:off x="640080" y="1874520"/>
            <a:ext cx="3566160" cy="3474720"/>
          </a:xfrm>
          <a:prstGeom prst="roundRect">
            <a:avLst>
              <a:gd name="adj" fmla="val 2105"/>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6" name="Text 4"/>
          <p:cNvSpPr/>
          <p:nvPr/>
        </p:nvSpPr>
        <p:spPr>
          <a:xfrm>
            <a:off x="932688" y="2103120"/>
            <a:ext cx="2980944" cy="1051560"/>
          </a:xfrm>
          <a:prstGeom prst="rect">
            <a:avLst/>
          </a:prstGeom>
          <a:noFill/>
          <a:ln/>
        </p:spPr>
        <p:txBody>
          <a:bodyPr wrap="square" lIns="0" tIns="0" rIns="0" bIns="0" rtlCol="0" anchor="t"/>
          <a:lstStyle/>
          <a:p>
            <a:pPr indent="0" marL="0">
              <a:lnSpc>
                <a:spcPts val="2800"/>
              </a:lnSpc>
              <a:buNone/>
            </a:pPr>
            <a:r>
              <a:rPr lang="en-US" sz="2000" b="1" dirty="0">
                <a:solidFill>
                  <a:srgbClr val="E2703A"/>
                </a:solidFill>
                <a:latin typeface="Meiryo" pitchFamily="34" charset="0"/>
                <a:ea typeface="Meiryo" pitchFamily="34" charset="-122"/>
                <a:cs typeface="Meiryo" pitchFamily="34" charset="-120"/>
              </a:rPr>
              <a:t>#とりあえず浸かる</a:t>
            </a:r>
            <a:endParaRPr lang="en-US" sz="2000" dirty="0"/>
          </a:p>
        </p:txBody>
      </p:sp>
      <p:sp>
        <p:nvSpPr>
          <p:cNvPr id="7" name="Text 5"/>
          <p:cNvSpPr/>
          <p:nvPr/>
        </p:nvSpPr>
        <p:spPr>
          <a:xfrm>
            <a:off x="932688" y="3200400"/>
            <a:ext cx="2980944" cy="320040"/>
          </a:xfrm>
          <a:prstGeom prst="rect">
            <a:avLst/>
          </a:prstGeom>
          <a:noFill/>
          <a:ln/>
        </p:spPr>
        <p:txBody>
          <a:bodyPr wrap="square" lIns="0" tIns="0" rIns="0" bIns="0" rtlCol="0" anchor="ctr"/>
          <a:lstStyle/>
          <a:p>
            <a:pPr indent="0" marL="0">
              <a:buNone/>
            </a:pPr>
            <a:r>
              <a:rPr lang="en-US" sz="1200" b="1" dirty="0">
                <a:solidFill>
                  <a:srgbClr val="132A4A"/>
                </a:solidFill>
                <a:latin typeface="Meiryo" pitchFamily="34" charset="0"/>
                <a:ea typeface="Meiryo" pitchFamily="34" charset="-122"/>
                <a:cs typeface="Meiryo" pitchFamily="34" charset="-120"/>
              </a:rPr>
              <a:t>行動・巻き込みファースト</a:t>
            </a:r>
            <a:endParaRPr lang="en-US" sz="1200" dirty="0"/>
          </a:p>
        </p:txBody>
      </p:sp>
      <p:sp>
        <p:nvSpPr>
          <p:cNvPr id="8" name="Text 6"/>
          <p:cNvSpPr/>
          <p:nvPr/>
        </p:nvSpPr>
        <p:spPr>
          <a:xfrm>
            <a:off x="932688" y="3611880"/>
            <a:ext cx="2980944" cy="1554480"/>
          </a:xfrm>
          <a:prstGeom prst="rect">
            <a:avLst/>
          </a:prstGeom>
          <a:noFill/>
          <a:ln/>
        </p:spPr>
        <p:txBody>
          <a:bodyPr wrap="square" lIns="0" tIns="0" rIns="0" bIns="0" rtlCol="0" anchor="t"/>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完璧な準備を待つのではなく、まずは飛び込んでみる。若林氏が指摘する「巻き込まれる力」を歓迎し、自らも周囲を巻き込んでいく姿勢。</a:t>
            </a:r>
            <a:endParaRPr lang="en-US" sz="1200" dirty="0"/>
          </a:p>
        </p:txBody>
      </p:sp>
      <p:sp>
        <p:nvSpPr>
          <p:cNvPr id="9" name="Shape 7"/>
          <p:cNvSpPr/>
          <p:nvPr/>
        </p:nvSpPr>
        <p:spPr>
          <a:xfrm>
            <a:off x="4480560" y="1874520"/>
            <a:ext cx="3566160" cy="3474720"/>
          </a:xfrm>
          <a:prstGeom prst="roundRect">
            <a:avLst>
              <a:gd name="adj" fmla="val 2105"/>
            </a:avLst>
          </a:prstGeom>
          <a:solidFill>
            <a:srgbClr val="F6E3D6"/>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0" name="Text 8"/>
          <p:cNvSpPr/>
          <p:nvPr/>
        </p:nvSpPr>
        <p:spPr>
          <a:xfrm>
            <a:off x="4773168" y="2103120"/>
            <a:ext cx="2980944" cy="1051560"/>
          </a:xfrm>
          <a:prstGeom prst="rect">
            <a:avLst/>
          </a:prstGeom>
          <a:noFill/>
          <a:ln/>
        </p:spPr>
        <p:txBody>
          <a:bodyPr wrap="square" lIns="0" tIns="0" rIns="0" bIns="0" rtlCol="0" anchor="t"/>
          <a:lstStyle/>
          <a:p>
            <a:pPr indent="0" marL="0">
              <a:lnSpc>
                <a:spcPts val="2800"/>
              </a:lnSpc>
              <a:buNone/>
            </a:pPr>
            <a:r>
              <a:rPr lang="en-US" sz="2000" b="1" dirty="0">
                <a:solidFill>
                  <a:srgbClr val="E2703A"/>
                </a:solidFill>
                <a:latin typeface="Meiryo" pitchFamily="34" charset="0"/>
                <a:ea typeface="Meiryo" pitchFamily="34" charset="-122"/>
                <a:cs typeface="Meiryo" pitchFamily="34" charset="-120"/>
              </a:rPr>
              <a:t>#湯加減をみるな、</a:t>
            </a:r>
            <a:endParaRPr lang="en-US" sz="2000" dirty="0"/>
          </a:p>
          <a:p>
            <a:pPr indent="0" marL="0">
              <a:lnSpc>
                <a:spcPts val="2800"/>
              </a:lnSpc>
              <a:buNone/>
            </a:pPr>
            <a:r>
              <a:rPr lang="en-US" sz="2000" b="1" dirty="0">
                <a:solidFill>
                  <a:srgbClr val="E2703A"/>
                </a:solidFill>
                <a:latin typeface="Meiryo" pitchFamily="34" charset="0"/>
                <a:ea typeface="Meiryo" pitchFamily="34" charset="-122"/>
                <a:cs typeface="Meiryo" pitchFamily="34" charset="-120"/>
              </a:rPr>
              <a:t>自ら熱を足せ</a:t>
            </a:r>
            <a:endParaRPr lang="en-US" sz="2000" dirty="0"/>
          </a:p>
        </p:txBody>
      </p:sp>
      <p:sp>
        <p:nvSpPr>
          <p:cNvPr id="11" name="Text 9"/>
          <p:cNvSpPr/>
          <p:nvPr/>
        </p:nvSpPr>
        <p:spPr>
          <a:xfrm>
            <a:off x="4773168" y="3200400"/>
            <a:ext cx="2980944" cy="320040"/>
          </a:xfrm>
          <a:prstGeom prst="rect">
            <a:avLst/>
          </a:prstGeom>
          <a:noFill/>
          <a:ln/>
        </p:spPr>
        <p:txBody>
          <a:bodyPr wrap="square" lIns="0" tIns="0" rIns="0" bIns="0" rtlCol="0" anchor="ctr"/>
          <a:lstStyle/>
          <a:p>
            <a:pPr indent="0" marL="0">
              <a:buNone/>
            </a:pPr>
            <a:r>
              <a:rPr lang="en-US" sz="1200" b="1" dirty="0">
                <a:solidFill>
                  <a:srgbClr val="132A4A"/>
                </a:solidFill>
                <a:latin typeface="Meiryo" pitchFamily="34" charset="0"/>
                <a:ea typeface="Meiryo" pitchFamily="34" charset="-122"/>
                <a:cs typeface="Meiryo" pitchFamily="34" charset="-120"/>
              </a:rPr>
              <a:t>当事者意識</a:t>
            </a:r>
            <a:endParaRPr lang="en-US" sz="1200" dirty="0"/>
          </a:p>
        </p:txBody>
      </p:sp>
      <p:sp>
        <p:nvSpPr>
          <p:cNvPr id="12" name="Text 10"/>
          <p:cNvSpPr/>
          <p:nvPr/>
        </p:nvSpPr>
        <p:spPr>
          <a:xfrm>
            <a:off x="4773168" y="3611880"/>
            <a:ext cx="2980944" cy="1554480"/>
          </a:xfrm>
          <a:prstGeom prst="rect">
            <a:avLst/>
          </a:prstGeom>
          <a:noFill/>
          <a:ln/>
        </p:spPr>
        <p:txBody>
          <a:bodyPr wrap="square" lIns="0" tIns="0" rIns="0" bIns="0" rtlCol="0" anchor="t"/>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「誰かが面白いことをやってくれる」というお客様体質を捨て、参加者自身が場を熱くする主体（薪をくべる役割）となること。</a:t>
            </a:r>
            <a:endParaRPr lang="en-US" sz="1200" dirty="0"/>
          </a:p>
        </p:txBody>
      </p:sp>
      <p:sp>
        <p:nvSpPr>
          <p:cNvPr id="13" name="Shape 11"/>
          <p:cNvSpPr/>
          <p:nvPr/>
        </p:nvSpPr>
        <p:spPr>
          <a:xfrm>
            <a:off x="8321040" y="1874520"/>
            <a:ext cx="3566160" cy="3474720"/>
          </a:xfrm>
          <a:prstGeom prst="roundRect">
            <a:avLst>
              <a:gd name="adj" fmla="val 2105"/>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4" name="Text 12"/>
          <p:cNvSpPr/>
          <p:nvPr/>
        </p:nvSpPr>
        <p:spPr>
          <a:xfrm>
            <a:off x="8613648" y="2103120"/>
            <a:ext cx="2980944" cy="1051560"/>
          </a:xfrm>
          <a:prstGeom prst="rect">
            <a:avLst/>
          </a:prstGeom>
          <a:noFill/>
          <a:ln/>
        </p:spPr>
        <p:txBody>
          <a:bodyPr wrap="square" lIns="0" tIns="0" rIns="0" bIns="0" rtlCol="0" anchor="t"/>
          <a:lstStyle/>
          <a:p>
            <a:pPr indent="0" marL="0">
              <a:lnSpc>
                <a:spcPts val="2800"/>
              </a:lnSpc>
              <a:buNone/>
            </a:pPr>
            <a:r>
              <a:rPr lang="en-US" sz="2000" b="1" dirty="0">
                <a:solidFill>
                  <a:srgbClr val="E2703A"/>
                </a:solidFill>
                <a:latin typeface="Meiryo" pitchFamily="34" charset="0"/>
                <a:ea typeface="Meiryo" pitchFamily="34" charset="-122"/>
                <a:cs typeface="Meiryo" pitchFamily="34" charset="-120"/>
              </a:rPr>
              <a:t>#裸で語り合う</a:t>
            </a:r>
            <a:endParaRPr lang="en-US" sz="2000" dirty="0"/>
          </a:p>
        </p:txBody>
      </p:sp>
      <p:sp>
        <p:nvSpPr>
          <p:cNvPr id="15" name="Text 13"/>
          <p:cNvSpPr/>
          <p:nvPr/>
        </p:nvSpPr>
        <p:spPr>
          <a:xfrm>
            <a:off x="8613648" y="3200400"/>
            <a:ext cx="2980944" cy="320040"/>
          </a:xfrm>
          <a:prstGeom prst="rect">
            <a:avLst/>
          </a:prstGeom>
          <a:noFill/>
          <a:ln/>
        </p:spPr>
        <p:txBody>
          <a:bodyPr wrap="square" lIns="0" tIns="0" rIns="0" bIns="0" rtlCol="0" anchor="ctr"/>
          <a:lstStyle/>
          <a:p>
            <a:pPr indent="0" marL="0">
              <a:buNone/>
            </a:pPr>
            <a:r>
              <a:rPr lang="en-US" sz="1200" b="1" dirty="0">
                <a:solidFill>
                  <a:srgbClr val="132A4A"/>
                </a:solidFill>
                <a:latin typeface="Meiryo" pitchFamily="34" charset="0"/>
                <a:ea typeface="Meiryo" pitchFamily="34" charset="-122"/>
                <a:cs typeface="Meiryo" pitchFamily="34" charset="-120"/>
              </a:rPr>
              <a:t>オープンマインドと心理的安全性</a:t>
            </a:r>
            <a:endParaRPr lang="en-US" sz="1200" dirty="0"/>
          </a:p>
        </p:txBody>
      </p:sp>
      <p:sp>
        <p:nvSpPr>
          <p:cNvPr id="16" name="Text 14"/>
          <p:cNvSpPr/>
          <p:nvPr/>
        </p:nvSpPr>
        <p:spPr>
          <a:xfrm>
            <a:off x="8613648" y="3611880"/>
            <a:ext cx="2980944" cy="1554480"/>
          </a:xfrm>
          <a:prstGeom prst="rect">
            <a:avLst/>
          </a:prstGeom>
          <a:noFill/>
          <a:ln/>
        </p:spPr>
        <p:txBody>
          <a:bodyPr wrap="square" lIns="0" tIns="0" rIns="0" bIns="0" rtlCol="0" anchor="t"/>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肩書や所属企業という「服」を脱ぎ捨て、一人の人間として本音で課題や夢を語り合う。「同じ湯の中」での心理的安全性を全員で担保する。</a:t>
            </a:r>
            <a:endParaRPr lang="en-US" sz="1200" dirty="0"/>
          </a:p>
        </p:txBody>
      </p:sp>
      <p:sp>
        <p:nvSpPr>
          <p:cNvPr id="17" name="Text 15"/>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MESSAGING</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誰に、何を、どう言うか</a:t>
            </a:r>
            <a:endParaRPr lang="en-US" sz="3000" dirty="0"/>
          </a:p>
        </p:txBody>
      </p:sp>
      <p:sp>
        <p:nvSpPr>
          <p:cNvPr id="4" name="Shape 2"/>
          <p:cNvSpPr/>
          <p:nvPr/>
        </p:nvSpPr>
        <p:spPr>
          <a:xfrm>
            <a:off x="640080" y="1481328"/>
            <a:ext cx="2468880" cy="475488"/>
          </a:xfrm>
          <a:prstGeom prst="rect">
            <a:avLst/>
          </a:prstGeom>
          <a:solidFill>
            <a:srgbClr val="132A4A"/>
          </a:solidFill>
          <a:ln w="6350">
            <a:solidFill>
              <a:srgbClr val="132A4A"/>
            </a:solidFill>
            <a:prstDash val="solid"/>
          </a:ln>
        </p:spPr>
      </p:sp>
      <p:sp>
        <p:nvSpPr>
          <p:cNvPr id="5" name="Text 3"/>
          <p:cNvSpPr/>
          <p:nvPr/>
        </p:nvSpPr>
        <p:spPr>
          <a:xfrm>
            <a:off x="804672" y="1481328"/>
            <a:ext cx="2139696" cy="475488"/>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ターゲット</a:t>
            </a:r>
            <a:endParaRPr lang="en-US" sz="1250" dirty="0"/>
          </a:p>
        </p:txBody>
      </p:sp>
      <p:sp>
        <p:nvSpPr>
          <p:cNvPr id="6" name="Shape 4"/>
          <p:cNvSpPr/>
          <p:nvPr/>
        </p:nvSpPr>
        <p:spPr>
          <a:xfrm>
            <a:off x="3108960" y="1481328"/>
            <a:ext cx="2926080" cy="475488"/>
          </a:xfrm>
          <a:prstGeom prst="rect">
            <a:avLst/>
          </a:prstGeom>
          <a:solidFill>
            <a:srgbClr val="132A4A"/>
          </a:solidFill>
          <a:ln w="6350">
            <a:solidFill>
              <a:srgbClr val="132A4A"/>
            </a:solidFill>
            <a:prstDash val="solid"/>
          </a:ln>
        </p:spPr>
      </p:sp>
      <p:sp>
        <p:nvSpPr>
          <p:cNvPr id="7" name="Text 5"/>
          <p:cNvSpPr/>
          <p:nvPr/>
        </p:nvSpPr>
        <p:spPr>
          <a:xfrm>
            <a:off x="3273552" y="1481328"/>
            <a:ext cx="2596896" cy="475488"/>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訴求すべき価値</a:t>
            </a:r>
            <a:endParaRPr lang="en-US" sz="1250" dirty="0"/>
          </a:p>
        </p:txBody>
      </p:sp>
      <p:sp>
        <p:nvSpPr>
          <p:cNvPr id="8" name="Shape 6"/>
          <p:cNvSpPr/>
          <p:nvPr/>
        </p:nvSpPr>
        <p:spPr>
          <a:xfrm>
            <a:off x="6035040" y="1481328"/>
            <a:ext cx="5477256" cy="475488"/>
          </a:xfrm>
          <a:prstGeom prst="rect">
            <a:avLst/>
          </a:prstGeom>
          <a:solidFill>
            <a:srgbClr val="132A4A"/>
          </a:solidFill>
          <a:ln w="6350">
            <a:solidFill>
              <a:srgbClr val="132A4A"/>
            </a:solidFill>
            <a:prstDash val="solid"/>
          </a:ln>
        </p:spPr>
      </p:sp>
      <p:sp>
        <p:nvSpPr>
          <p:cNvPr id="9" name="Text 7"/>
          <p:cNvSpPr/>
          <p:nvPr/>
        </p:nvSpPr>
        <p:spPr>
          <a:xfrm>
            <a:off x="6199632" y="1481328"/>
            <a:ext cx="5148072" cy="475488"/>
          </a:xfrm>
          <a:prstGeom prst="rect">
            <a:avLst/>
          </a:prstGeom>
          <a:noFill/>
          <a:ln/>
        </p:spPr>
        <p:txBody>
          <a:bodyPr wrap="square" lIns="0" tIns="0" rIns="0" bIns="0" rtlCol="0" anchor="ctr"/>
          <a:lstStyle/>
          <a:p>
            <a:pPr indent="0" marL="0">
              <a:buNone/>
            </a:pPr>
            <a:r>
              <a:rPr lang="en-US" sz="1250" b="1" dirty="0">
                <a:solidFill>
                  <a:srgbClr val="FFFFFF"/>
                </a:solidFill>
                <a:latin typeface="Meiryo" pitchFamily="34" charset="0"/>
                <a:ea typeface="Meiryo" pitchFamily="34" charset="-122"/>
                <a:cs typeface="Meiryo" pitchFamily="34" charset="-120"/>
              </a:rPr>
              <a:t>言語化案</a:t>
            </a:r>
            <a:endParaRPr lang="en-US" sz="1250" dirty="0"/>
          </a:p>
        </p:txBody>
      </p:sp>
      <p:sp>
        <p:nvSpPr>
          <p:cNvPr id="10" name="Shape 8"/>
          <p:cNvSpPr/>
          <p:nvPr/>
        </p:nvSpPr>
        <p:spPr>
          <a:xfrm>
            <a:off x="640080" y="1956816"/>
            <a:ext cx="2468880" cy="1216152"/>
          </a:xfrm>
          <a:prstGeom prst="rect">
            <a:avLst/>
          </a:prstGeom>
          <a:solidFill>
            <a:srgbClr val="FFFFFF"/>
          </a:solidFill>
          <a:ln w="6350">
            <a:solidFill>
              <a:srgbClr val="DDE4EC"/>
            </a:solidFill>
            <a:prstDash val="solid"/>
          </a:ln>
        </p:spPr>
      </p:sp>
      <p:sp>
        <p:nvSpPr>
          <p:cNvPr id="11" name="Text 9"/>
          <p:cNvSpPr/>
          <p:nvPr/>
        </p:nvSpPr>
        <p:spPr>
          <a:xfrm>
            <a:off x="804672" y="2029968"/>
            <a:ext cx="2139696" cy="1069848"/>
          </a:xfrm>
          <a:prstGeom prst="rect">
            <a:avLst/>
          </a:prstGeom>
          <a:noFill/>
          <a:ln/>
        </p:spPr>
        <p:txBody>
          <a:bodyPr wrap="square" lIns="0" tIns="0" rIns="0" bIns="0" rtlCol="0" anchor="ctr"/>
          <a:lstStyle/>
          <a:p>
            <a:pPr indent="0" marL="0">
              <a:lnSpc>
                <a:spcPts val="1900"/>
              </a:lnSpc>
              <a:buNone/>
            </a:pPr>
            <a:r>
              <a:rPr lang="en-US" sz="1200" b="1" dirty="0">
                <a:solidFill>
                  <a:srgbClr val="132A4A"/>
                </a:solidFill>
                <a:latin typeface="Meiryo" pitchFamily="34" charset="0"/>
                <a:ea typeface="Meiryo" pitchFamily="34" charset="-122"/>
                <a:cs typeface="Meiryo" pitchFamily="34" charset="-120"/>
              </a:rPr>
              <a:t>運営メンバー候補</a:t>
            </a:r>
            <a:endParaRPr lang="en-US" sz="1200" dirty="0"/>
          </a:p>
        </p:txBody>
      </p:sp>
      <p:sp>
        <p:nvSpPr>
          <p:cNvPr id="12" name="Shape 10"/>
          <p:cNvSpPr/>
          <p:nvPr/>
        </p:nvSpPr>
        <p:spPr>
          <a:xfrm>
            <a:off x="3108960" y="1956816"/>
            <a:ext cx="2926080" cy="1216152"/>
          </a:xfrm>
          <a:prstGeom prst="rect">
            <a:avLst/>
          </a:prstGeom>
          <a:solidFill>
            <a:srgbClr val="FFFFFF"/>
          </a:solidFill>
          <a:ln w="6350">
            <a:solidFill>
              <a:srgbClr val="DDE4EC"/>
            </a:solidFill>
            <a:prstDash val="solid"/>
          </a:ln>
        </p:spPr>
      </p:sp>
      <p:sp>
        <p:nvSpPr>
          <p:cNvPr id="13" name="Text 11"/>
          <p:cNvSpPr/>
          <p:nvPr/>
        </p:nvSpPr>
        <p:spPr>
          <a:xfrm>
            <a:off x="3273552" y="2029968"/>
            <a:ext cx="2596896" cy="1069848"/>
          </a:xfrm>
          <a:prstGeom prst="rect">
            <a:avLst/>
          </a:prstGeom>
          <a:noFill/>
          <a:ln/>
        </p:spPr>
        <p:txBody>
          <a:bodyPr wrap="square" lIns="0" tIns="0" rIns="0" bIns="0" rtlCol="0" anchor="ctr"/>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自身の成長／全国規模の人脈形成／非日常の達成感</a:t>
            </a:r>
            <a:endParaRPr lang="en-US" sz="1200" dirty="0"/>
          </a:p>
        </p:txBody>
      </p:sp>
      <p:sp>
        <p:nvSpPr>
          <p:cNvPr id="14" name="Shape 12"/>
          <p:cNvSpPr/>
          <p:nvPr/>
        </p:nvSpPr>
        <p:spPr>
          <a:xfrm>
            <a:off x="6035040" y="1956816"/>
            <a:ext cx="5477256" cy="1216152"/>
          </a:xfrm>
          <a:prstGeom prst="rect">
            <a:avLst/>
          </a:prstGeom>
          <a:solidFill>
            <a:srgbClr val="FFFFFF"/>
          </a:solidFill>
          <a:ln w="6350">
            <a:solidFill>
              <a:srgbClr val="DDE4EC"/>
            </a:solidFill>
            <a:prstDash val="solid"/>
          </a:ln>
        </p:spPr>
      </p:sp>
      <p:sp>
        <p:nvSpPr>
          <p:cNvPr id="15" name="Text 13"/>
          <p:cNvSpPr/>
          <p:nvPr/>
        </p:nvSpPr>
        <p:spPr>
          <a:xfrm>
            <a:off x="6199632" y="2029968"/>
            <a:ext cx="5148072" cy="1069848"/>
          </a:xfrm>
          <a:prstGeom prst="rect">
            <a:avLst/>
          </a:prstGeom>
          <a:noFill/>
          <a:ln/>
        </p:spPr>
        <p:txBody>
          <a:bodyPr wrap="square" lIns="0" tIns="0" rIns="0" bIns="0" rtlCol="0" anchor="ctr"/>
          <a:lstStyle/>
          <a:p>
            <a:pPr indent="0" marL="0">
              <a:lnSpc>
                <a:spcPts val="1700"/>
              </a:lnSpc>
              <a:buNone/>
            </a:pPr>
            <a:r>
              <a:rPr lang="en-US" sz="1100" dirty="0">
                <a:solidFill>
                  <a:srgbClr val="1F2933"/>
                </a:solidFill>
                <a:latin typeface="Meiryo" pitchFamily="34" charset="0"/>
                <a:ea typeface="Meiryo" pitchFamily="34" charset="-122"/>
                <a:cs typeface="Meiryo" pitchFamily="34" charset="-120"/>
              </a:rPr>
              <a:t>「会社や日常の枠組みから一歩外に出て、全国の面白い人たちと一緒に文化祭を作りませんか？運営の苦労を共にするプロセス自体が、最強のネットワーク構築と自己成長の場になります。」</a:t>
            </a:r>
            <a:endParaRPr lang="en-US" sz="1100" dirty="0"/>
          </a:p>
        </p:txBody>
      </p:sp>
      <p:sp>
        <p:nvSpPr>
          <p:cNvPr id="16" name="Shape 14"/>
          <p:cNvSpPr/>
          <p:nvPr/>
        </p:nvSpPr>
        <p:spPr>
          <a:xfrm>
            <a:off x="640080" y="3172968"/>
            <a:ext cx="2468880" cy="1216152"/>
          </a:xfrm>
          <a:prstGeom prst="rect">
            <a:avLst/>
          </a:prstGeom>
          <a:solidFill>
            <a:srgbClr val="F4F7FA"/>
          </a:solidFill>
          <a:ln w="6350">
            <a:solidFill>
              <a:srgbClr val="DDE4EC"/>
            </a:solidFill>
            <a:prstDash val="solid"/>
          </a:ln>
        </p:spPr>
      </p:sp>
      <p:sp>
        <p:nvSpPr>
          <p:cNvPr id="17" name="Text 15"/>
          <p:cNvSpPr/>
          <p:nvPr/>
        </p:nvSpPr>
        <p:spPr>
          <a:xfrm>
            <a:off x="804672" y="3246120"/>
            <a:ext cx="2139696" cy="1069848"/>
          </a:xfrm>
          <a:prstGeom prst="rect">
            <a:avLst/>
          </a:prstGeom>
          <a:noFill/>
          <a:ln/>
        </p:spPr>
        <p:txBody>
          <a:bodyPr wrap="square" lIns="0" tIns="0" rIns="0" bIns="0" rtlCol="0" anchor="ctr"/>
          <a:lstStyle/>
          <a:p>
            <a:pPr indent="0" marL="0">
              <a:lnSpc>
                <a:spcPts val="1900"/>
              </a:lnSpc>
              <a:buNone/>
            </a:pPr>
            <a:r>
              <a:rPr lang="en-US" sz="1200" b="1" dirty="0">
                <a:solidFill>
                  <a:srgbClr val="132A4A"/>
                </a:solidFill>
                <a:latin typeface="Meiryo" pitchFamily="34" charset="0"/>
                <a:ea typeface="Meiryo" pitchFamily="34" charset="-122"/>
                <a:cs typeface="Meiryo" pitchFamily="34" charset="-120"/>
              </a:rPr>
              <a:t>地元企業（スポンサー）</a:t>
            </a:r>
            <a:endParaRPr lang="en-US" sz="1200" dirty="0"/>
          </a:p>
        </p:txBody>
      </p:sp>
      <p:sp>
        <p:nvSpPr>
          <p:cNvPr id="18" name="Shape 16"/>
          <p:cNvSpPr/>
          <p:nvPr/>
        </p:nvSpPr>
        <p:spPr>
          <a:xfrm>
            <a:off x="3108960" y="3172968"/>
            <a:ext cx="2926080" cy="1216152"/>
          </a:xfrm>
          <a:prstGeom prst="rect">
            <a:avLst/>
          </a:prstGeom>
          <a:solidFill>
            <a:srgbClr val="F4F7FA"/>
          </a:solidFill>
          <a:ln w="6350">
            <a:solidFill>
              <a:srgbClr val="DDE4EC"/>
            </a:solidFill>
            <a:prstDash val="solid"/>
          </a:ln>
        </p:spPr>
      </p:sp>
      <p:sp>
        <p:nvSpPr>
          <p:cNvPr id="19" name="Text 17"/>
          <p:cNvSpPr/>
          <p:nvPr/>
        </p:nvSpPr>
        <p:spPr>
          <a:xfrm>
            <a:off x="3273552" y="3246120"/>
            <a:ext cx="2596896" cy="1069848"/>
          </a:xfrm>
          <a:prstGeom prst="rect">
            <a:avLst/>
          </a:prstGeom>
          <a:noFill/>
          <a:ln/>
        </p:spPr>
        <p:txBody>
          <a:bodyPr wrap="square" lIns="0" tIns="0" rIns="0" bIns="0" rtlCol="0" anchor="ctr"/>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社外の風の導入／次世代リーダーの育成／新規事業のヒント</a:t>
            </a:r>
            <a:endParaRPr lang="en-US" sz="1200" dirty="0"/>
          </a:p>
        </p:txBody>
      </p:sp>
      <p:sp>
        <p:nvSpPr>
          <p:cNvPr id="20" name="Shape 18"/>
          <p:cNvSpPr/>
          <p:nvPr/>
        </p:nvSpPr>
        <p:spPr>
          <a:xfrm>
            <a:off x="6035040" y="3172968"/>
            <a:ext cx="5477256" cy="1216152"/>
          </a:xfrm>
          <a:prstGeom prst="rect">
            <a:avLst/>
          </a:prstGeom>
          <a:solidFill>
            <a:srgbClr val="F4F7FA"/>
          </a:solidFill>
          <a:ln w="6350">
            <a:solidFill>
              <a:srgbClr val="DDE4EC"/>
            </a:solidFill>
            <a:prstDash val="solid"/>
          </a:ln>
        </p:spPr>
      </p:sp>
      <p:sp>
        <p:nvSpPr>
          <p:cNvPr id="21" name="Text 19"/>
          <p:cNvSpPr/>
          <p:nvPr/>
        </p:nvSpPr>
        <p:spPr>
          <a:xfrm>
            <a:off x="6199632" y="3246120"/>
            <a:ext cx="5148072" cy="1069848"/>
          </a:xfrm>
          <a:prstGeom prst="rect">
            <a:avLst/>
          </a:prstGeom>
          <a:noFill/>
          <a:ln/>
        </p:spPr>
        <p:txBody>
          <a:bodyPr wrap="square" lIns="0" tIns="0" rIns="0" bIns="0" rtlCol="0" anchor="ctr"/>
          <a:lstStyle/>
          <a:p>
            <a:pPr indent="0" marL="0">
              <a:lnSpc>
                <a:spcPts val="1700"/>
              </a:lnSpc>
              <a:buNone/>
            </a:pPr>
            <a:r>
              <a:rPr lang="en-US" sz="1100" dirty="0">
                <a:solidFill>
                  <a:srgbClr val="1F2933"/>
                </a:solidFill>
                <a:latin typeface="Meiryo" pitchFamily="34" charset="0"/>
                <a:ea typeface="Meiryo" pitchFamily="34" charset="-122"/>
                <a:cs typeface="Meiryo" pitchFamily="34" charset="-120"/>
              </a:rPr>
              <a:t>「自ら課題を見つけて行動できる『自律型の熱い人材』が全国から集結します。広告協賛ではなく、自社の社員を派遣し、凝り固まった社内文化に外部の熱風を吹き込む『人材投資』としてご活用ください。」</a:t>
            </a:r>
            <a:endParaRPr lang="en-US" sz="1100" dirty="0"/>
          </a:p>
        </p:txBody>
      </p:sp>
      <p:sp>
        <p:nvSpPr>
          <p:cNvPr id="22" name="Shape 20"/>
          <p:cNvSpPr/>
          <p:nvPr/>
        </p:nvSpPr>
        <p:spPr>
          <a:xfrm>
            <a:off x="640080" y="4389120"/>
            <a:ext cx="2468880" cy="1216152"/>
          </a:xfrm>
          <a:prstGeom prst="rect">
            <a:avLst/>
          </a:prstGeom>
          <a:solidFill>
            <a:srgbClr val="FFFFFF"/>
          </a:solidFill>
          <a:ln w="6350">
            <a:solidFill>
              <a:srgbClr val="DDE4EC"/>
            </a:solidFill>
            <a:prstDash val="solid"/>
          </a:ln>
        </p:spPr>
      </p:sp>
      <p:sp>
        <p:nvSpPr>
          <p:cNvPr id="23" name="Text 21"/>
          <p:cNvSpPr/>
          <p:nvPr/>
        </p:nvSpPr>
        <p:spPr>
          <a:xfrm>
            <a:off x="804672" y="4462272"/>
            <a:ext cx="2139696" cy="1069848"/>
          </a:xfrm>
          <a:prstGeom prst="rect">
            <a:avLst/>
          </a:prstGeom>
          <a:noFill/>
          <a:ln/>
        </p:spPr>
        <p:txBody>
          <a:bodyPr wrap="square" lIns="0" tIns="0" rIns="0" bIns="0" rtlCol="0" anchor="ctr"/>
          <a:lstStyle/>
          <a:p>
            <a:pPr indent="0" marL="0">
              <a:lnSpc>
                <a:spcPts val="1900"/>
              </a:lnSpc>
              <a:buNone/>
            </a:pPr>
            <a:r>
              <a:rPr lang="en-US" sz="1200" b="1" dirty="0">
                <a:solidFill>
                  <a:srgbClr val="132A4A"/>
                </a:solidFill>
                <a:latin typeface="Meiryo" pitchFamily="34" charset="0"/>
                <a:ea typeface="Meiryo" pitchFamily="34" charset="-122"/>
                <a:cs typeface="Meiryo" pitchFamily="34" charset="-120"/>
              </a:rPr>
              <a:t>全国系IT企業（スポンサー）</a:t>
            </a:r>
            <a:endParaRPr lang="en-US" sz="1200" dirty="0"/>
          </a:p>
        </p:txBody>
      </p:sp>
      <p:sp>
        <p:nvSpPr>
          <p:cNvPr id="24" name="Shape 22"/>
          <p:cNvSpPr/>
          <p:nvPr/>
        </p:nvSpPr>
        <p:spPr>
          <a:xfrm>
            <a:off x="3108960" y="4389120"/>
            <a:ext cx="2926080" cy="1216152"/>
          </a:xfrm>
          <a:prstGeom prst="rect">
            <a:avLst/>
          </a:prstGeom>
          <a:solidFill>
            <a:srgbClr val="FFFFFF"/>
          </a:solidFill>
          <a:ln w="6350">
            <a:solidFill>
              <a:srgbClr val="DDE4EC"/>
            </a:solidFill>
            <a:prstDash val="solid"/>
          </a:ln>
        </p:spPr>
      </p:sp>
      <p:sp>
        <p:nvSpPr>
          <p:cNvPr id="25" name="Text 23"/>
          <p:cNvSpPr/>
          <p:nvPr/>
        </p:nvSpPr>
        <p:spPr>
          <a:xfrm>
            <a:off x="3273552" y="4462272"/>
            <a:ext cx="2596896" cy="1069848"/>
          </a:xfrm>
          <a:prstGeom prst="rect">
            <a:avLst/>
          </a:prstGeom>
          <a:noFill/>
          <a:ln/>
        </p:spPr>
        <p:txBody>
          <a:bodyPr wrap="square" lIns="0" tIns="0" rIns="0" bIns="0" rtlCol="0" anchor="ctr"/>
          <a:lstStyle/>
          <a:p>
            <a:pPr indent="0" marL="0">
              <a:lnSpc>
                <a:spcPts val="1900"/>
              </a:lnSpc>
              <a:buNone/>
            </a:pPr>
            <a:r>
              <a:rPr lang="en-US" sz="1200" dirty="0">
                <a:solidFill>
                  <a:srgbClr val="1F2933"/>
                </a:solidFill>
                <a:latin typeface="Meiryo" pitchFamily="34" charset="0"/>
                <a:ea typeface="Meiryo" pitchFamily="34" charset="-122"/>
                <a:cs typeface="Meiryo" pitchFamily="34" charset="-120"/>
              </a:rPr>
              <a:t>地方展開の足がかり／ローカル人材との接点／自社技術のファン獲得</a:t>
            </a:r>
            <a:endParaRPr lang="en-US" sz="1200" dirty="0"/>
          </a:p>
        </p:txBody>
      </p:sp>
      <p:sp>
        <p:nvSpPr>
          <p:cNvPr id="26" name="Shape 24"/>
          <p:cNvSpPr/>
          <p:nvPr/>
        </p:nvSpPr>
        <p:spPr>
          <a:xfrm>
            <a:off x="6035040" y="4389120"/>
            <a:ext cx="5477256" cy="1216152"/>
          </a:xfrm>
          <a:prstGeom prst="rect">
            <a:avLst/>
          </a:prstGeom>
          <a:solidFill>
            <a:srgbClr val="FFFFFF"/>
          </a:solidFill>
          <a:ln w="6350">
            <a:solidFill>
              <a:srgbClr val="DDE4EC"/>
            </a:solidFill>
            <a:prstDash val="solid"/>
          </a:ln>
        </p:spPr>
      </p:sp>
      <p:sp>
        <p:nvSpPr>
          <p:cNvPr id="27" name="Text 25"/>
          <p:cNvSpPr/>
          <p:nvPr/>
        </p:nvSpPr>
        <p:spPr>
          <a:xfrm>
            <a:off x="6199632" y="4462272"/>
            <a:ext cx="5148072" cy="1069848"/>
          </a:xfrm>
          <a:prstGeom prst="rect">
            <a:avLst/>
          </a:prstGeom>
          <a:noFill/>
          <a:ln/>
        </p:spPr>
        <p:txBody>
          <a:bodyPr wrap="square" lIns="0" tIns="0" rIns="0" bIns="0" rtlCol="0" anchor="ctr"/>
          <a:lstStyle/>
          <a:p>
            <a:pPr indent="0" marL="0">
              <a:lnSpc>
                <a:spcPts val="1700"/>
              </a:lnSpc>
              <a:buNone/>
            </a:pPr>
            <a:r>
              <a:rPr lang="en-US" sz="1100" dirty="0">
                <a:solidFill>
                  <a:srgbClr val="1F2933"/>
                </a:solidFill>
                <a:latin typeface="Meiryo" pitchFamily="34" charset="0"/>
                <a:ea typeface="Meiryo" pitchFamily="34" charset="-122"/>
                <a:cs typeface="Meiryo" pitchFamily="34" charset="-120"/>
              </a:rPr>
              <a:t>「大分・別府という特異なフィールドで、地域課題の最前線に立つリーダーたちと深い関係値を築けます。合宿という密室空間で、自社の技術やビジョンへの強い共感者（エバンジェリスト）を生み出す場です。」</a:t>
            </a:r>
            <a:endParaRPr lang="en-US" sz="1100" dirty="0"/>
          </a:p>
        </p:txBody>
      </p:sp>
      <p:sp>
        <p:nvSpPr>
          <p:cNvPr id="28" name="Text 26"/>
          <p:cNvSpPr/>
          <p:nvPr/>
        </p:nvSpPr>
        <p:spPr>
          <a:xfrm>
            <a:off x="640080" y="5715000"/>
            <a:ext cx="10881360" cy="365760"/>
          </a:xfrm>
          <a:prstGeom prst="rect">
            <a:avLst/>
          </a:prstGeom>
          <a:noFill/>
          <a:ln/>
        </p:spPr>
        <p:txBody>
          <a:bodyPr wrap="square" lIns="0" tIns="0" rIns="0" bIns="0" rtlCol="0" anchor="ctr"/>
          <a:lstStyle/>
          <a:p>
            <a:pPr indent="0" marL="0">
              <a:buNone/>
            </a:pPr>
            <a:r>
              <a:rPr lang="en-US" sz="1200" dirty="0">
                <a:solidFill>
                  <a:srgbClr val="667384"/>
                </a:solidFill>
                <a:latin typeface="Meiryo" pitchFamily="34" charset="0"/>
                <a:ea typeface="Meiryo" pitchFamily="34" charset="-122"/>
                <a:cs typeface="Meiryo" pitchFamily="34" charset="-120"/>
              </a:rPr>
              <a:t>共通ルール：「コミュニティマーケティング」等の専門用語は使わない。相手の得るものから話す。</a:t>
            </a:r>
            <a:endParaRPr lang="en-US" sz="1200" dirty="0"/>
          </a:p>
        </p:txBody>
      </p:sp>
      <p:sp>
        <p:nvSpPr>
          <p:cNvPr id="29" name="Text 27"/>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ACTION 01</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運営メンバーは「量より質」で獲る</a:t>
            </a:r>
            <a:endParaRPr lang="en-US" sz="3000" dirty="0"/>
          </a:p>
        </p:txBody>
      </p:sp>
      <p:sp>
        <p:nvSpPr>
          <p:cNvPr id="4" name="Text 2"/>
          <p:cNvSpPr/>
          <p:nvPr/>
        </p:nvSpPr>
        <p:spPr>
          <a:xfrm>
            <a:off x="640080" y="1298448"/>
            <a:ext cx="10881360" cy="365760"/>
          </a:xfrm>
          <a:prstGeom prst="rect">
            <a:avLst/>
          </a:prstGeom>
          <a:noFill/>
          <a:ln/>
        </p:spPr>
        <p:txBody>
          <a:bodyPr wrap="square" lIns="0" tIns="0" rIns="0" bIns="0" rtlCol="0" anchor="ctr"/>
          <a:lstStyle/>
          <a:p>
            <a:pPr indent="0" marL="0">
              <a:buNone/>
            </a:pPr>
            <a:r>
              <a:rPr lang="en-US" sz="1250" dirty="0">
                <a:solidFill>
                  <a:srgbClr val="667384"/>
                </a:solidFill>
                <a:latin typeface="Meiryo" pitchFamily="34" charset="0"/>
                <a:ea typeface="Meiryo" pitchFamily="34" charset="-122"/>
                <a:cs typeface="Meiryo" pitchFamily="34" charset="-120"/>
              </a:rPr>
              <a:t>極端に増やせない以上、自走できるコアメンバー（各領域のハブとなれる人材）の確保が急務。</a:t>
            </a:r>
            <a:endParaRPr lang="en-US" sz="1250" dirty="0"/>
          </a:p>
        </p:txBody>
      </p:sp>
      <p:sp>
        <p:nvSpPr>
          <p:cNvPr id="5" name="Shape 3"/>
          <p:cNvSpPr/>
          <p:nvPr/>
        </p:nvSpPr>
        <p:spPr>
          <a:xfrm>
            <a:off x="640080" y="1828800"/>
            <a:ext cx="5394960" cy="3291840"/>
          </a:xfrm>
          <a:prstGeom prst="roundRect">
            <a:avLst>
              <a:gd name="adj" fmla="val 2222"/>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6" name="Shape 4"/>
          <p:cNvSpPr/>
          <p:nvPr/>
        </p:nvSpPr>
        <p:spPr>
          <a:xfrm>
            <a:off x="960120" y="2103120"/>
            <a:ext cx="502920" cy="502920"/>
          </a:xfrm>
          <a:prstGeom prst="ellipse">
            <a:avLst/>
          </a:prstGeom>
          <a:solidFill>
            <a:srgbClr val="132A4A"/>
          </a:solidFill>
          <a:ln w="12700">
            <a:solidFill>
              <a:srgbClr val="132A4A"/>
            </a:solidFill>
            <a:prstDash val="solid"/>
          </a:ln>
        </p:spPr>
      </p:sp>
      <p:sp>
        <p:nvSpPr>
          <p:cNvPr id="7" name="Text 5"/>
          <p:cNvSpPr/>
          <p:nvPr/>
        </p:nvSpPr>
        <p:spPr>
          <a:xfrm>
            <a:off x="960120" y="210312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誰</a:t>
            </a:r>
            <a:endParaRPr lang="en-US" sz="1300" dirty="0"/>
          </a:p>
        </p:txBody>
      </p:sp>
      <p:sp>
        <p:nvSpPr>
          <p:cNvPr id="8" name="Text 6"/>
          <p:cNvSpPr/>
          <p:nvPr/>
        </p:nvSpPr>
        <p:spPr>
          <a:xfrm>
            <a:off x="1600200" y="2103120"/>
            <a:ext cx="4114800" cy="502920"/>
          </a:xfrm>
          <a:prstGeom prst="rect">
            <a:avLst/>
          </a:prstGeom>
          <a:noFill/>
          <a:ln/>
        </p:spPr>
        <p:txBody>
          <a:bodyPr wrap="square" lIns="0" tIns="0" rIns="0" bIns="0" rtlCol="0" anchor="ctr"/>
          <a:lstStyle/>
          <a:p>
            <a:pPr indent="0" marL="0">
              <a:buNone/>
            </a:pPr>
            <a:r>
              <a:rPr lang="en-US" sz="1700" b="1" dirty="0">
                <a:solidFill>
                  <a:srgbClr val="132A4A"/>
                </a:solidFill>
                <a:latin typeface="Meiryo" pitchFamily="34" charset="0"/>
                <a:ea typeface="Meiryo" pitchFamily="34" charset="-122"/>
                <a:cs typeface="Meiryo" pitchFamily="34" charset="-120"/>
              </a:rPr>
              <a:t>ターゲット層</a:t>
            </a:r>
            <a:endParaRPr lang="en-US" sz="1700" dirty="0"/>
          </a:p>
        </p:txBody>
      </p:sp>
      <p:sp>
        <p:nvSpPr>
          <p:cNvPr id="9" name="Text 7"/>
          <p:cNvSpPr/>
          <p:nvPr/>
        </p:nvSpPr>
        <p:spPr>
          <a:xfrm>
            <a:off x="960120" y="2788920"/>
            <a:ext cx="4754880" cy="640080"/>
          </a:xfrm>
          <a:prstGeom prst="rect">
            <a:avLst/>
          </a:prstGeom>
          <a:noFill/>
          <a:ln/>
        </p:spPr>
        <p:txBody>
          <a:bodyPr wrap="square" lIns="0" tIns="0" rIns="0" bIns="0" rtlCol="0" anchor="t"/>
          <a:lstStyle/>
          <a:p>
            <a:pPr indent="0" marL="0">
              <a:lnSpc>
                <a:spcPts val="2100"/>
              </a:lnSpc>
              <a:buNone/>
            </a:pPr>
            <a:r>
              <a:rPr lang="en-US" sz="1300" dirty="0">
                <a:solidFill>
                  <a:srgbClr val="1F2933"/>
                </a:solidFill>
                <a:latin typeface="Meiryo" pitchFamily="34" charset="0"/>
                <a:ea typeface="Meiryo" pitchFamily="34" charset="-122"/>
                <a:cs typeface="Meiryo" pitchFamily="34" charset="-120"/>
              </a:rPr>
              <a:t>大分・別府エリアで、すでに小規模なコミュニティを主宰しているリーダー層。</a:t>
            </a:r>
            <a:endParaRPr lang="en-US" sz="1300" dirty="0"/>
          </a:p>
        </p:txBody>
      </p:sp>
      <p:sp>
        <p:nvSpPr>
          <p:cNvPr id="10" name="Shape 8"/>
          <p:cNvSpPr/>
          <p:nvPr/>
        </p:nvSpPr>
        <p:spPr>
          <a:xfrm>
            <a:off x="960120" y="3474720"/>
            <a:ext cx="4754880" cy="384048"/>
          </a:xfrm>
          <a:prstGeom prst="roundRect">
            <a:avLst>
              <a:gd name="adj" fmla="val 50000"/>
            </a:avLst>
          </a:prstGeom>
          <a:solidFill>
            <a:srgbClr val="F4F7FA"/>
          </a:solidFill>
          <a:ln w="9525">
            <a:solidFill>
              <a:srgbClr val="D8E1EA"/>
            </a:solidFill>
            <a:prstDash val="solid"/>
          </a:ln>
        </p:spPr>
      </p:sp>
      <p:sp>
        <p:nvSpPr>
          <p:cNvPr id="11" name="Text 9"/>
          <p:cNvSpPr/>
          <p:nvPr/>
        </p:nvSpPr>
        <p:spPr>
          <a:xfrm>
            <a:off x="1188720" y="3474720"/>
            <a:ext cx="4389120" cy="384048"/>
          </a:xfrm>
          <a:prstGeom prst="rect">
            <a:avLst/>
          </a:prstGeom>
          <a:noFill/>
          <a:ln/>
        </p:spPr>
        <p:txBody>
          <a:bodyPr wrap="square" lIns="0" tIns="0" rIns="0" bIns="0" rtlCol="0" anchor="ctr"/>
          <a:lstStyle/>
          <a:p>
            <a:pPr indent="0" marL="0">
              <a:buNone/>
            </a:pPr>
            <a:r>
              <a:rPr lang="en-US" sz="1200" dirty="0">
                <a:solidFill>
                  <a:srgbClr val="132A4A"/>
                </a:solidFill>
                <a:latin typeface="Meiryo" pitchFamily="34" charset="0"/>
                <a:ea typeface="Meiryo" pitchFamily="34" charset="-122"/>
                <a:cs typeface="Meiryo" pitchFamily="34" charset="-120"/>
              </a:rPr>
              <a:t>技術勉強会の主催者</a:t>
            </a:r>
            <a:endParaRPr lang="en-US" sz="1200" dirty="0"/>
          </a:p>
        </p:txBody>
      </p:sp>
      <p:sp>
        <p:nvSpPr>
          <p:cNvPr id="12" name="Shape 10"/>
          <p:cNvSpPr/>
          <p:nvPr/>
        </p:nvSpPr>
        <p:spPr>
          <a:xfrm>
            <a:off x="960120" y="3950208"/>
            <a:ext cx="4754880" cy="384048"/>
          </a:xfrm>
          <a:prstGeom prst="roundRect">
            <a:avLst>
              <a:gd name="adj" fmla="val 50000"/>
            </a:avLst>
          </a:prstGeom>
          <a:solidFill>
            <a:srgbClr val="F4F7FA"/>
          </a:solidFill>
          <a:ln w="9525">
            <a:solidFill>
              <a:srgbClr val="D8E1EA"/>
            </a:solidFill>
            <a:prstDash val="solid"/>
          </a:ln>
        </p:spPr>
      </p:sp>
      <p:sp>
        <p:nvSpPr>
          <p:cNvPr id="13" name="Text 11"/>
          <p:cNvSpPr/>
          <p:nvPr/>
        </p:nvSpPr>
        <p:spPr>
          <a:xfrm>
            <a:off x="1188720" y="3950208"/>
            <a:ext cx="4389120" cy="384048"/>
          </a:xfrm>
          <a:prstGeom prst="rect">
            <a:avLst/>
          </a:prstGeom>
          <a:noFill/>
          <a:ln/>
        </p:spPr>
        <p:txBody>
          <a:bodyPr wrap="square" lIns="0" tIns="0" rIns="0" bIns="0" rtlCol="0" anchor="ctr"/>
          <a:lstStyle/>
          <a:p>
            <a:pPr indent="0" marL="0">
              <a:buNone/>
            </a:pPr>
            <a:r>
              <a:rPr lang="en-US" sz="1200" dirty="0">
                <a:solidFill>
                  <a:srgbClr val="132A4A"/>
                </a:solidFill>
                <a:latin typeface="Meiryo" pitchFamily="34" charset="0"/>
                <a:ea typeface="Meiryo" pitchFamily="34" charset="-122"/>
                <a:cs typeface="Meiryo" pitchFamily="34" charset="-120"/>
              </a:rPr>
              <a:t>若手経営者の会</a:t>
            </a:r>
            <a:endParaRPr lang="en-US" sz="1200" dirty="0"/>
          </a:p>
        </p:txBody>
      </p:sp>
      <p:sp>
        <p:nvSpPr>
          <p:cNvPr id="14" name="Shape 12"/>
          <p:cNvSpPr/>
          <p:nvPr/>
        </p:nvSpPr>
        <p:spPr>
          <a:xfrm>
            <a:off x="960120" y="4425696"/>
            <a:ext cx="4754880" cy="384048"/>
          </a:xfrm>
          <a:prstGeom prst="roundRect">
            <a:avLst>
              <a:gd name="adj" fmla="val 50000"/>
            </a:avLst>
          </a:prstGeom>
          <a:solidFill>
            <a:srgbClr val="F4F7FA"/>
          </a:solidFill>
          <a:ln w="9525">
            <a:solidFill>
              <a:srgbClr val="D8E1EA"/>
            </a:solidFill>
            <a:prstDash val="solid"/>
          </a:ln>
        </p:spPr>
      </p:sp>
      <p:sp>
        <p:nvSpPr>
          <p:cNvPr id="15" name="Text 13"/>
          <p:cNvSpPr/>
          <p:nvPr/>
        </p:nvSpPr>
        <p:spPr>
          <a:xfrm>
            <a:off x="1188720" y="4425696"/>
            <a:ext cx="4389120" cy="384048"/>
          </a:xfrm>
          <a:prstGeom prst="rect">
            <a:avLst/>
          </a:prstGeom>
          <a:noFill/>
          <a:ln/>
        </p:spPr>
        <p:txBody>
          <a:bodyPr wrap="square" lIns="0" tIns="0" rIns="0" bIns="0" rtlCol="0" anchor="ctr"/>
          <a:lstStyle/>
          <a:p>
            <a:pPr indent="0" marL="0">
              <a:buNone/>
            </a:pPr>
            <a:r>
              <a:rPr lang="en-US" sz="1200" dirty="0">
                <a:solidFill>
                  <a:srgbClr val="132A4A"/>
                </a:solidFill>
                <a:latin typeface="Meiryo" pitchFamily="34" charset="0"/>
                <a:ea typeface="Meiryo" pitchFamily="34" charset="-122"/>
                <a:cs typeface="Meiryo" pitchFamily="34" charset="-120"/>
              </a:rPr>
              <a:t>地域おこしの任意団体</a:t>
            </a:r>
            <a:endParaRPr lang="en-US" sz="1200" dirty="0"/>
          </a:p>
        </p:txBody>
      </p:sp>
      <p:sp>
        <p:nvSpPr>
          <p:cNvPr id="16" name="Text 14"/>
          <p:cNvSpPr/>
          <p:nvPr/>
        </p:nvSpPr>
        <p:spPr>
          <a:xfrm>
            <a:off x="960120" y="4937760"/>
            <a:ext cx="4754880" cy="320040"/>
          </a:xfrm>
          <a:prstGeom prst="rect">
            <a:avLst/>
          </a:prstGeom>
          <a:noFill/>
          <a:ln/>
        </p:spPr>
        <p:txBody>
          <a:bodyPr wrap="square" lIns="0" tIns="0" rIns="0" bIns="0" rtlCol="0" anchor="ctr"/>
          <a:lstStyle/>
          <a:p>
            <a:pPr indent="0" marL="0">
              <a:buNone/>
            </a:pPr>
            <a:r>
              <a:rPr lang="en-US" sz="1150" b="1" dirty="0">
                <a:solidFill>
                  <a:srgbClr val="E2703A"/>
                </a:solidFill>
                <a:latin typeface="Meiryo" pitchFamily="34" charset="0"/>
                <a:ea typeface="Meiryo" pitchFamily="34" charset="-122"/>
                <a:cs typeface="Meiryo" pitchFamily="34" charset="-120"/>
              </a:rPr>
              <a:t>ただし、活動の広がりや運営に限界（孤独感）を感じていること。</a:t>
            </a:r>
            <a:endParaRPr lang="en-US" sz="1150" dirty="0"/>
          </a:p>
        </p:txBody>
      </p:sp>
      <p:sp>
        <p:nvSpPr>
          <p:cNvPr id="17" name="Shape 15"/>
          <p:cNvSpPr/>
          <p:nvPr/>
        </p:nvSpPr>
        <p:spPr>
          <a:xfrm>
            <a:off x="6400800" y="1828800"/>
            <a:ext cx="5120640" cy="3291840"/>
          </a:xfrm>
          <a:prstGeom prst="roundRect">
            <a:avLst>
              <a:gd name="adj" fmla="val 2222"/>
            </a:avLst>
          </a:prstGeom>
          <a:solidFill>
            <a:srgbClr val="F6E3D6"/>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8" name="Shape 16"/>
          <p:cNvSpPr/>
          <p:nvPr/>
        </p:nvSpPr>
        <p:spPr>
          <a:xfrm>
            <a:off x="6720840" y="2103120"/>
            <a:ext cx="502920" cy="502920"/>
          </a:xfrm>
          <a:prstGeom prst="ellipse">
            <a:avLst/>
          </a:prstGeom>
          <a:solidFill>
            <a:srgbClr val="E2703A"/>
          </a:solidFill>
          <a:ln w="12700">
            <a:solidFill>
              <a:srgbClr val="E2703A"/>
            </a:solidFill>
            <a:prstDash val="solid"/>
          </a:ln>
        </p:spPr>
      </p:sp>
      <p:sp>
        <p:nvSpPr>
          <p:cNvPr id="19" name="Text 17"/>
          <p:cNvSpPr/>
          <p:nvPr/>
        </p:nvSpPr>
        <p:spPr>
          <a:xfrm>
            <a:off x="6720840" y="210312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何</a:t>
            </a:r>
            <a:endParaRPr lang="en-US" sz="1300" dirty="0"/>
          </a:p>
        </p:txBody>
      </p:sp>
      <p:sp>
        <p:nvSpPr>
          <p:cNvPr id="20" name="Text 18"/>
          <p:cNvSpPr/>
          <p:nvPr/>
        </p:nvSpPr>
        <p:spPr>
          <a:xfrm>
            <a:off x="7360920" y="2103120"/>
            <a:ext cx="3931920" cy="502920"/>
          </a:xfrm>
          <a:prstGeom prst="rect">
            <a:avLst/>
          </a:prstGeom>
          <a:noFill/>
          <a:ln/>
        </p:spPr>
        <p:txBody>
          <a:bodyPr wrap="square" lIns="0" tIns="0" rIns="0" bIns="0" rtlCol="0" anchor="ctr"/>
          <a:lstStyle/>
          <a:p>
            <a:pPr indent="0" marL="0">
              <a:buNone/>
            </a:pPr>
            <a:r>
              <a:rPr lang="en-US" sz="1700" b="1" dirty="0">
                <a:solidFill>
                  <a:srgbClr val="E2703A"/>
                </a:solidFill>
                <a:latin typeface="Meiryo" pitchFamily="34" charset="0"/>
                <a:ea typeface="Meiryo" pitchFamily="34" charset="-122"/>
                <a:cs typeface="Meiryo" pitchFamily="34" charset="-120"/>
              </a:rPr>
              <a:t>アプローチ手法</a:t>
            </a:r>
            <a:endParaRPr lang="en-US" sz="1700" dirty="0"/>
          </a:p>
        </p:txBody>
      </p:sp>
      <p:sp>
        <p:nvSpPr>
          <p:cNvPr id="21" name="Text 19"/>
          <p:cNvSpPr/>
          <p:nvPr/>
        </p:nvSpPr>
        <p:spPr>
          <a:xfrm>
            <a:off x="6720840" y="2834640"/>
            <a:ext cx="4480560" cy="320040"/>
          </a:xfrm>
          <a:prstGeom prst="rect">
            <a:avLst/>
          </a:prstGeom>
          <a:noFill/>
          <a:ln/>
        </p:spPr>
        <p:txBody>
          <a:bodyPr wrap="square" lIns="0" tIns="0" rIns="0" bIns="0" rtlCol="0" anchor="ctr"/>
          <a:lstStyle/>
          <a:p>
            <a:pPr indent="0" marL="0">
              <a:buNone/>
            </a:pPr>
            <a:r>
              <a:rPr lang="en-US" sz="1350" b="1" dirty="0">
                <a:solidFill>
                  <a:srgbClr val="667384"/>
                </a:solidFill>
                <a:latin typeface="Meiryo" pitchFamily="34" charset="0"/>
                <a:ea typeface="Meiryo" pitchFamily="34" charset="-122"/>
                <a:cs typeface="Meiryo" pitchFamily="34" charset="-120"/>
              </a:rPr>
              <a:t>× 労働力の要求</a:t>
            </a:r>
            <a:endParaRPr lang="en-US" sz="1350" dirty="0"/>
          </a:p>
        </p:txBody>
      </p:sp>
      <p:sp>
        <p:nvSpPr>
          <p:cNvPr id="22" name="Text 20"/>
          <p:cNvSpPr/>
          <p:nvPr/>
        </p:nvSpPr>
        <p:spPr>
          <a:xfrm>
            <a:off x="6720840" y="3154680"/>
            <a:ext cx="4480560" cy="320040"/>
          </a:xfrm>
          <a:prstGeom prst="rect">
            <a:avLst/>
          </a:prstGeom>
          <a:noFill/>
          <a:ln/>
        </p:spPr>
        <p:txBody>
          <a:bodyPr wrap="square" lIns="0" tIns="0" rIns="0" bIns="0" rtlCol="0" anchor="ctr"/>
          <a:lstStyle/>
          <a:p>
            <a:pPr indent="0" marL="0">
              <a:buNone/>
            </a:pPr>
            <a:r>
              <a:rPr lang="en-US" sz="1200" dirty="0">
                <a:solidFill>
                  <a:srgbClr val="667384"/>
                </a:solidFill>
                <a:latin typeface="Meiryo" pitchFamily="34" charset="0"/>
                <a:ea typeface="Meiryo" pitchFamily="34" charset="-122"/>
                <a:cs typeface="Meiryo" pitchFamily="34" charset="-120"/>
              </a:rPr>
              <a:t>「イベントの手伝いをしてほしい」</a:t>
            </a:r>
            <a:endParaRPr lang="en-US" sz="1200" dirty="0"/>
          </a:p>
        </p:txBody>
      </p:sp>
      <p:sp>
        <p:nvSpPr>
          <p:cNvPr id="23" name="Text 21"/>
          <p:cNvSpPr/>
          <p:nvPr/>
        </p:nvSpPr>
        <p:spPr>
          <a:xfrm>
            <a:off x="6720840" y="3657600"/>
            <a:ext cx="4480560" cy="320040"/>
          </a:xfrm>
          <a:prstGeom prst="rect">
            <a:avLst/>
          </a:prstGeom>
          <a:noFill/>
          <a:ln/>
        </p:spPr>
        <p:txBody>
          <a:bodyPr wrap="square" lIns="0" tIns="0" rIns="0" bIns="0" rtlCol="0" anchor="ctr"/>
          <a:lstStyle/>
          <a:p>
            <a:pPr indent="0" marL="0">
              <a:buNone/>
            </a:pPr>
            <a:r>
              <a:rPr lang="en-US" sz="1350" b="1" dirty="0">
                <a:solidFill>
                  <a:srgbClr val="132A4A"/>
                </a:solidFill>
                <a:latin typeface="Meiryo" pitchFamily="34" charset="0"/>
                <a:ea typeface="Meiryo" pitchFamily="34" charset="-122"/>
                <a:cs typeface="Meiryo" pitchFamily="34" charset="-120"/>
              </a:rPr>
              <a:t>○ 相互利益の提案</a:t>
            </a:r>
            <a:endParaRPr lang="en-US" sz="1350" dirty="0"/>
          </a:p>
        </p:txBody>
      </p:sp>
      <p:sp>
        <p:nvSpPr>
          <p:cNvPr id="24" name="Text 22"/>
          <p:cNvSpPr/>
          <p:nvPr/>
        </p:nvSpPr>
        <p:spPr>
          <a:xfrm>
            <a:off x="6720840" y="3977640"/>
            <a:ext cx="4480560" cy="1005840"/>
          </a:xfrm>
          <a:prstGeom prst="rect">
            <a:avLst/>
          </a:prstGeom>
          <a:noFill/>
          <a:ln/>
        </p:spPr>
        <p:txBody>
          <a:bodyPr wrap="square" lIns="0" tIns="0" rIns="0" bIns="0" rtlCol="0" anchor="t"/>
          <a:lstStyle/>
          <a:p>
            <a:pPr indent="0" marL="0">
              <a:lnSpc>
                <a:spcPts val="2100"/>
              </a:lnSpc>
              <a:buNone/>
            </a:pPr>
            <a:r>
              <a:rPr lang="en-US" sz="1300" b="1" dirty="0">
                <a:solidFill>
                  <a:srgbClr val="1F2933"/>
                </a:solidFill>
                <a:latin typeface="Meiryo" pitchFamily="34" charset="0"/>
                <a:ea typeface="Meiryo" pitchFamily="34" charset="-122"/>
                <a:cs typeface="Meiryo" pitchFamily="34" charset="-120"/>
              </a:rPr>
              <a:t>「CLSという全国規模のプラットフォームを使って、あなたのコミュニティ活動のステージを一段引き上げないか？」</a:t>
            </a:r>
            <a:endParaRPr lang="en-US" sz="1300" dirty="0"/>
          </a:p>
        </p:txBody>
      </p:sp>
      <p:sp>
        <p:nvSpPr>
          <p:cNvPr id="25" name="Text 23"/>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ACTION 02</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協賛は「露出」から「価値体験の提供」へ</a:t>
            </a:r>
            <a:endParaRPr lang="en-US" sz="3000" dirty="0"/>
          </a:p>
        </p:txBody>
      </p:sp>
      <p:sp>
        <p:nvSpPr>
          <p:cNvPr id="4" name="Text 2"/>
          <p:cNvSpPr/>
          <p:nvPr/>
        </p:nvSpPr>
        <p:spPr>
          <a:xfrm>
            <a:off x="640080" y="1298448"/>
            <a:ext cx="10881360" cy="365760"/>
          </a:xfrm>
          <a:prstGeom prst="rect">
            <a:avLst/>
          </a:prstGeom>
          <a:noFill/>
          <a:ln/>
        </p:spPr>
        <p:txBody>
          <a:bodyPr wrap="square" lIns="0" tIns="0" rIns="0" bIns="0" rtlCol="0" anchor="ctr"/>
          <a:lstStyle/>
          <a:p>
            <a:pPr indent="0" marL="0">
              <a:buNone/>
            </a:pPr>
            <a:r>
              <a:rPr lang="en-US" sz="1250" dirty="0">
                <a:solidFill>
                  <a:srgbClr val="667384"/>
                </a:solidFill>
                <a:latin typeface="Meiryo" pitchFamily="34" charset="0"/>
                <a:ea typeface="Meiryo" pitchFamily="34" charset="-122"/>
                <a:cs typeface="Meiryo" pitchFamily="34" charset="-120"/>
              </a:rPr>
              <a:t>小規模開催では、ロゴ掲載型の広告協賛は企業側の投資対効果が合わない。合宿型ならではのメニューへ転換する。</a:t>
            </a:r>
            <a:endParaRPr lang="en-US" sz="1250" dirty="0"/>
          </a:p>
        </p:txBody>
      </p:sp>
      <p:sp>
        <p:nvSpPr>
          <p:cNvPr id="5" name="Shape 3"/>
          <p:cNvSpPr/>
          <p:nvPr/>
        </p:nvSpPr>
        <p:spPr>
          <a:xfrm>
            <a:off x="640080" y="1874520"/>
            <a:ext cx="3566160" cy="3520440"/>
          </a:xfrm>
          <a:prstGeom prst="roundRect">
            <a:avLst>
              <a:gd name="adj" fmla="val 2078"/>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6" name="Shape 4"/>
          <p:cNvSpPr/>
          <p:nvPr/>
        </p:nvSpPr>
        <p:spPr>
          <a:xfrm>
            <a:off x="932688" y="2148840"/>
            <a:ext cx="1691640" cy="310896"/>
          </a:xfrm>
          <a:prstGeom prst="roundRect">
            <a:avLst>
              <a:gd name="adj" fmla="val 50000"/>
            </a:avLst>
          </a:prstGeom>
          <a:solidFill>
            <a:srgbClr val="E2703A"/>
          </a:solidFill>
          <a:ln w="12700">
            <a:solidFill>
              <a:srgbClr val="333333"/>
            </a:solidFill>
            <a:prstDash val="solid"/>
          </a:ln>
        </p:spPr>
      </p:sp>
      <p:sp>
        <p:nvSpPr>
          <p:cNvPr id="7" name="Text 5"/>
          <p:cNvSpPr/>
          <p:nvPr/>
        </p:nvSpPr>
        <p:spPr>
          <a:xfrm>
            <a:off x="932688" y="2148840"/>
            <a:ext cx="16916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Meiryo" pitchFamily="34" charset="0"/>
                <a:ea typeface="Meiryo" pitchFamily="34" charset="-122"/>
                <a:cs typeface="Meiryo" pitchFamily="34" charset="-120"/>
              </a:rPr>
              <a:t>新メニュー</a:t>
            </a:r>
            <a:endParaRPr lang="en-US" sz="950" dirty="0"/>
          </a:p>
        </p:txBody>
      </p:sp>
      <p:sp>
        <p:nvSpPr>
          <p:cNvPr id="8" name="Text 6"/>
          <p:cNvSpPr/>
          <p:nvPr/>
        </p:nvSpPr>
        <p:spPr>
          <a:xfrm>
            <a:off x="932688" y="2606040"/>
            <a:ext cx="2980944" cy="914400"/>
          </a:xfrm>
          <a:prstGeom prst="rect">
            <a:avLst/>
          </a:prstGeom>
          <a:noFill/>
          <a:ln/>
        </p:spPr>
        <p:txBody>
          <a:bodyPr wrap="square" lIns="0" tIns="0" rIns="0" bIns="0" rtlCol="0" anchor="t"/>
          <a:lstStyle/>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課題解決</a:t>
            </a:r>
            <a:endParaRPr lang="en-US" sz="2000" dirty="0"/>
          </a:p>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持ち込み型</a:t>
            </a:r>
            <a:endParaRPr lang="en-US" sz="2000" dirty="0"/>
          </a:p>
        </p:txBody>
      </p:sp>
      <p:sp>
        <p:nvSpPr>
          <p:cNvPr id="9" name="Text 7"/>
          <p:cNvSpPr/>
          <p:nvPr/>
        </p:nvSpPr>
        <p:spPr>
          <a:xfrm>
            <a:off x="932688" y="3566160"/>
            <a:ext cx="2980944" cy="274320"/>
          </a:xfrm>
          <a:prstGeom prst="rect">
            <a:avLst/>
          </a:prstGeom>
          <a:noFill/>
          <a:ln/>
        </p:spPr>
        <p:txBody>
          <a:bodyPr wrap="square" lIns="0" tIns="0" rIns="0" bIns="0" rtlCol="0" anchor="ctr"/>
          <a:lstStyle/>
          <a:p>
            <a:pPr indent="0" marL="0">
              <a:buNone/>
            </a:pPr>
            <a:r>
              <a:rPr lang="en-US" sz="1100" b="1" dirty="0">
                <a:solidFill>
                  <a:srgbClr val="E2703A"/>
                </a:solidFill>
                <a:latin typeface="Meiryo" pitchFamily="34" charset="0"/>
                <a:ea typeface="Meiryo" pitchFamily="34" charset="-122"/>
                <a:cs typeface="Meiryo" pitchFamily="34" charset="-120"/>
              </a:rPr>
              <a:t>新メニュー</a:t>
            </a:r>
            <a:endParaRPr lang="en-US" sz="1100" dirty="0"/>
          </a:p>
        </p:txBody>
      </p:sp>
      <p:sp>
        <p:nvSpPr>
          <p:cNvPr id="10" name="Text 8"/>
          <p:cNvSpPr/>
          <p:nvPr/>
        </p:nvSpPr>
        <p:spPr>
          <a:xfrm>
            <a:off x="932688" y="3886200"/>
            <a:ext cx="2980944" cy="137160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協賛企業の経営層や次世代リーダー候補を合宿へ派遣。彼らが抱えるリアルな事業課題（DX推進、採用難、新規事業開発）を、全国から集まった越境人材が夜通し議論し、解決の糸口を提示する「課題解決セッション」。</a:t>
            </a:r>
            <a:endParaRPr lang="en-US" sz="1150" dirty="0"/>
          </a:p>
        </p:txBody>
      </p:sp>
      <p:sp>
        <p:nvSpPr>
          <p:cNvPr id="11" name="Shape 9"/>
          <p:cNvSpPr/>
          <p:nvPr/>
        </p:nvSpPr>
        <p:spPr>
          <a:xfrm>
            <a:off x="4480560" y="1874520"/>
            <a:ext cx="3566160" cy="3520440"/>
          </a:xfrm>
          <a:prstGeom prst="roundRect">
            <a:avLst>
              <a:gd name="adj" fmla="val 2078"/>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2" name="Shape 10"/>
          <p:cNvSpPr/>
          <p:nvPr/>
        </p:nvSpPr>
        <p:spPr>
          <a:xfrm>
            <a:off x="4773168" y="2148840"/>
            <a:ext cx="1691640" cy="310896"/>
          </a:xfrm>
          <a:prstGeom prst="roundRect">
            <a:avLst>
              <a:gd name="adj" fmla="val 50000"/>
            </a:avLst>
          </a:prstGeom>
          <a:solidFill>
            <a:srgbClr val="132A4A"/>
          </a:solidFill>
          <a:ln w="12700">
            <a:solidFill>
              <a:srgbClr val="333333"/>
            </a:solidFill>
            <a:prstDash val="solid"/>
          </a:ln>
        </p:spPr>
      </p:sp>
      <p:sp>
        <p:nvSpPr>
          <p:cNvPr id="13" name="Text 11"/>
          <p:cNvSpPr/>
          <p:nvPr/>
        </p:nvSpPr>
        <p:spPr>
          <a:xfrm>
            <a:off x="4773168" y="2148840"/>
            <a:ext cx="16916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Meiryo" pitchFamily="34" charset="0"/>
                <a:ea typeface="Meiryo" pitchFamily="34" charset="-122"/>
                <a:cs typeface="Meiryo" pitchFamily="34" charset="-120"/>
              </a:rPr>
              <a:t>辻氏のネットワーク</a:t>
            </a:r>
            <a:endParaRPr lang="en-US" sz="950" dirty="0"/>
          </a:p>
        </p:txBody>
      </p:sp>
      <p:sp>
        <p:nvSpPr>
          <p:cNvPr id="14" name="Text 12"/>
          <p:cNvSpPr/>
          <p:nvPr/>
        </p:nvSpPr>
        <p:spPr>
          <a:xfrm>
            <a:off x="4773168" y="2606040"/>
            <a:ext cx="2980944" cy="914400"/>
          </a:xfrm>
          <a:prstGeom prst="rect">
            <a:avLst/>
          </a:prstGeom>
          <a:noFill/>
          <a:ln/>
        </p:spPr>
        <p:txBody>
          <a:bodyPr wrap="square" lIns="0" tIns="0" rIns="0" bIns="0" rtlCol="0" anchor="t"/>
          <a:lstStyle/>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地元企業・</a:t>
            </a:r>
            <a:endParaRPr lang="en-US" sz="2000" dirty="0"/>
          </a:p>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自治体</a:t>
            </a:r>
            <a:endParaRPr lang="en-US" sz="2000" dirty="0"/>
          </a:p>
        </p:txBody>
      </p:sp>
      <p:sp>
        <p:nvSpPr>
          <p:cNvPr id="15" name="Text 13"/>
          <p:cNvSpPr/>
          <p:nvPr/>
        </p:nvSpPr>
        <p:spPr>
          <a:xfrm>
            <a:off x="4773168" y="3566160"/>
            <a:ext cx="2980944" cy="274320"/>
          </a:xfrm>
          <a:prstGeom prst="rect">
            <a:avLst/>
          </a:prstGeom>
          <a:noFill/>
          <a:ln/>
        </p:spPr>
        <p:txBody>
          <a:bodyPr wrap="square" lIns="0" tIns="0" rIns="0" bIns="0" rtlCol="0" anchor="ctr"/>
          <a:lstStyle/>
          <a:p>
            <a:pPr indent="0" marL="0">
              <a:buNone/>
            </a:pPr>
            <a:r>
              <a:rPr lang="en-US" sz="1100" b="1" dirty="0">
                <a:solidFill>
                  <a:srgbClr val="E2703A"/>
                </a:solidFill>
                <a:latin typeface="Meiryo" pitchFamily="34" charset="0"/>
                <a:ea typeface="Meiryo" pitchFamily="34" charset="-122"/>
                <a:cs typeface="Meiryo" pitchFamily="34" charset="-120"/>
              </a:rPr>
              <a:t>辻氏のネットワーク</a:t>
            </a:r>
            <a:endParaRPr lang="en-US" sz="1100" dirty="0"/>
          </a:p>
        </p:txBody>
      </p:sp>
      <p:sp>
        <p:nvSpPr>
          <p:cNvPr id="16" name="Text 14"/>
          <p:cNvSpPr/>
          <p:nvPr/>
        </p:nvSpPr>
        <p:spPr>
          <a:xfrm>
            <a:off x="4773168" y="3886200"/>
            <a:ext cx="2980944" cy="137160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地域金融機関の立場から、地元中小企業に「社外の知見を導入するための実践的な社員研修」としてCLSへの協賛・参加を提案。大分市での開催も含め、地域のオープンイノベーションの場と位置づける。</a:t>
            </a:r>
            <a:endParaRPr lang="en-US" sz="1150" dirty="0"/>
          </a:p>
        </p:txBody>
      </p:sp>
      <p:sp>
        <p:nvSpPr>
          <p:cNvPr id="17" name="Shape 15"/>
          <p:cNvSpPr/>
          <p:nvPr/>
        </p:nvSpPr>
        <p:spPr>
          <a:xfrm>
            <a:off x="8321040" y="1874520"/>
            <a:ext cx="3566160" cy="3520440"/>
          </a:xfrm>
          <a:prstGeom prst="roundRect">
            <a:avLst>
              <a:gd name="adj" fmla="val 2078"/>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8" name="Shape 16"/>
          <p:cNvSpPr/>
          <p:nvPr/>
        </p:nvSpPr>
        <p:spPr>
          <a:xfrm>
            <a:off x="8613648" y="2148840"/>
            <a:ext cx="1691640" cy="310896"/>
          </a:xfrm>
          <a:prstGeom prst="roundRect">
            <a:avLst>
              <a:gd name="adj" fmla="val 50000"/>
            </a:avLst>
          </a:prstGeom>
          <a:solidFill>
            <a:srgbClr val="1E3E6B"/>
          </a:solidFill>
          <a:ln w="12700">
            <a:solidFill>
              <a:srgbClr val="333333"/>
            </a:solidFill>
            <a:prstDash val="solid"/>
          </a:ln>
        </p:spPr>
      </p:sp>
      <p:sp>
        <p:nvSpPr>
          <p:cNvPr id="19" name="Text 17"/>
          <p:cNvSpPr/>
          <p:nvPr/>
        </p:nvSpPr>
        <p:spPr>
          <a:xfrm>
            <a:off x="8613648" y="2148840"/>
            <a:ext cx="16916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Meiryo" pitchFamily="34" charset="0"/>
                <a:ea typeface="Meiryo" pitchFamily="34" charset="-122"/>
                <a:cs typeface="Meiryo" pitchFamily="34" charset="-120"/>
              </a:rPr>
              <a:t>若林氏・平野氏のネ</a:t>
            </a:r>
            <a:endParaRPr lang="en-US" sz="950" dirty="0"/>
          </a:p>
        </p:txBody>
      </p:sp>
      <p:sp>
        <p:nvSpPr>
          <p:cNvPr id="20" name="Text 18"/>
          <p:cNvSpPr/>
          <p:nvPr/>
        </p:nvSpPr>
        <p:spPr>
          <a:xfrm>
            <a:off x="8613648" y="2606040"/>
            <a:ext cx="2980944" cy="914400"/>
          </a:xfrm>
          <a:prstGeom prst="rect">
            <a:avLst/>
          </a:prstGeom>
          <a:noFill/>
          <a:ln/>
        </p:spPr>
        <p:txBody>
          <a:bodyPr wrap="square" lIns="0" tIns="0" rIns="0" bIns="0" rtlCol="0" anchor="t"/>
          <a:lstStyle/>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全国区の</a:t>
            </a:r>
            <a:endParaRPr lang="en-US" sz="2000" dirty="0"/>
          </a:p>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IT企業</a:t>
            </a:r>
            <a:endParaRPr lang="en-US" sz="2000" dirty="0"/>
          </a:p>
        </p:txBody>
      </p:sp>
      <p:sp>
        <p:nvSpPr>
          <p:cNvPr id="21" name="Text 19"/>
          <p:cNvSpPr/>
          <p:nvPr/>
        </p:nvSpPr>
        <p:spPr>
          <a:xfrm>
            <a:off x="8613648" y="3566160"/>
            <a:ext cx="2980944" cy="274320"/>
          </a:xfrm>
          <a:prstGeom prst="rect">
            <a:avLst/>
          </a:prstGeom>
          <a:noFill/>
          <a:ln/>
        </p:spPr>
        <p:txBody>
          <a:bodyPr wrap="square" lIns="0" tIns="0" rIns="0" bIns="0" rtlCol="0" anchor="ctr"/>
          <a:lstStyle/>
          <a:p>
            <a:pPr indent="0" marL="0">
              <a:buNone/>
            </a:pPr>
            <a:r>
              <a:rPr lang="en-US" sz="1100" b="1" dirty="0">
                <a:solidFill>
                  <a:srgbClr val="E2703A"/>
                </a:solidFill>
                <a:latin typeface="Meiryo" pitchFamily="34" charset="0"/>
                <a:ea typeface="Meiryo" pitchFamily="34" charset="-122"/>
                <a:cs typeface="Meiryo" pitchFamily="34" charset="-120"/>
              </a:rPr>
              <a:t>若林氏・平野氏のネットワーク</a:t>
            </a:r>
            <a:endParaRPr lang="en-US" sz="1100" dirty="0"/>
          </a:p>
        </p:txBody>
      </p:sp>
      <p:sp>
        <p:nvSpPr>
          <p:cNvPr id="22" name="Text 20"/>
          <p:cNvSpPr/>
          <p:nvPr/>
        </p:nvSpPr>
        <p:spPr>
          <a:xfrm>
            <a:off x="8613648" y="3886200"/>
            <a:ext cx="2980944" cy="137160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地方創生に関心を持つクラウドベンダーやSaaS企業に対し、「大分・別府エリアのハブ人材と直接繋がり、自社サービスの強力なエバンジェリスト（伝道師）を発掘・育成する場」としてアプローチ。</a:t>
            </a:r>
            <a:endParaRPr lang="en-US" sz="1150" dirty="0"/>
          </a:p>
        </p:txBody>
      </p:sp>
      <p:sp>
        <p:nvSpPr>
          <p:cNvPr id="23" name="Text 21"/>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A4A"/>
        </a:solidFill>
      </p:bgPr>
    </p:bg>
    <p:spTree>
      <p:nvGrpSpPr>
        <p:cNvPr id="1" name=""/>
        <p:cNvGrpSpPr/>
        <p:nvPr/>
      </p:nvGrpSpPr>
      <p:grpSpPr>
        <a:xfrm>
          <a:off x="0" y="0"/>
          <a:ext cx="0" cy="0"/>
          <a:chOff x="0" y="0"/>
          <a:chExt cx="0" cy="0"/>
        </a:xfrm>
      </p:grpSpPr>
      <p:sp>
        <p:nvSpPr>
          <p:cNvPr id="2" name="Shape 0"/>
          <p:cNvSpPr/>
          <p:nvPr/>
        </p:nvSpPr>
        <p:spPr>
          <a:xfrm>
            <a:off x="9509760" y="4297680"/>
            <a:ext cx="4023360" cy="4023360"/>
          </a:xfrm>
          <a:prstGeom prst="ellipse">
            <a:avLst/>
          </a:prstGeom>
          <a:solidFill>
            <a:srgbClr val="1E3E6B"/>
          </a:solidFill>
          <a:ln w="12700">
            <a:solidFill>
              <a:srgbClr val="333333"/>
            </a:solidFill>
            <a:prstDash val="solid"/>
          </a:ln>
        </p:spPr>
        <p:txBody>
          <a:bodyPr/>
          <a:p/>
        </p:txBody>
      </p:sp>
      <p:sp>
        <p:nvSpPr>
          <p:cNvPr id="3" name="Text 1"/>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CONCLUSION</a:t>
            </a:r>
            <a:endParaRPr lang="en-US" sz="1150" dirty="0"/>
          </a:p>
        </p:txBody>
      </p:sp>
      <p:sp>
        <p:nvSpPr>
          <p:cNvPr id="4" name="Text 2"/>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Meiryo" pitchFamily="34" charset="0"/>
                <a:ea typeface="Meiryo" pitchFamily="34" charset="-122"/>
                <a:cs typeface="Meiryo" pitchFamily="34" charset="-120"/>
              </a:rPr>
              <a:t>本日、確立させるべき共通言語</a:t>
            </a:r>
            <a:endParaRPr lang="en-US" sz="3000" dirty="0"/>
          </a:p>
        </p:txBody>
      </p:sp>
      <p:sp>
        <p:nvSpPr>
          <p:cNvPr id="5" name="Shape 3"/>
          <p:cNvSpPr/>
          <p:nvPr/>
        </p:nvSpPr>
        <p:spPr>
          <a:xfrm>
            <a:off x="640080" y="1508760"/>
            <a:ext cx="10881360" cy="1051560"/>
          </a:xfrm>
          <a:prstGeom prst="roundRect">
            <a:avLst>
              <a:gd name="adj" fmla="val 6957"/>
            </a:avLst>
          </a:prstGeom>
          <a:solidFill>
            <a:srgbClr val="1E3E6B"/>
          </a:solidFill>
          <a:ln w="15875">
            <a:solidFill>
              <a:srgbClr val="E2703A"/>
            </a:solidFill>
            <a:prstDash val="solid"/>
          </a:ln>
        </p:spPr>
        <p:txBody>
          <a:bodyPr/>
          <a:p/>
        </p:txBody>
      </p:sp>
      <p:sp>
        <p:nvSpPr>
          <p:cNvPr id="6" name="Text 4"/>
          <p:cNvSpPr/>
          <p:nvPr/>
        </p:nvSpPr>
        <p:spPr>
          <a:xfrm>
            <a:off x="960120" y="1508760"/>
            <a:ext cx="1554480" cy="1051560"/>
          </a:xfrm>
          <a:prstGeom prst="rect">
            <a:avLst/>
          </a:prstGeom>
          <a:noFill/>
          <a:ln/>
        </p:spPr>
        <p:txBody>
          <a:bodyPr wrap="square" lIns="0" tIns="0" rIns="0" bIns="0" rtlCol="0" anchor="ctr"/>
          <a:lstStyle/>
          <a:p>
            <a:pPr indent="0" marL="0">
              <a:buNone/>
            </a:pPr>
            <a:r>
              <a:rPr lang="en-US" sz="1100" b="1" dirty="0">
                <a:solidFill>
                  <a:srgbClr val="E2703A"/>
                </a:solidFill>
                <a:latin typeface="Meiryo" pitchFamily="34" charset="0"/>
                <a:ea typeface="Meiryo" pitchFamily="34" charset="-122"/>
                <a:cs typeface="Meiryo" pitchFamily="34" charset="-120"/>
              </a:rPr>
              <a:t>PURPOSE</a:t>
            </a:r>
            <a:endParaRPr lang="en-US" sz="1100" dirty="0"/>
          </a:p>
        </p:txBody>
      </p:sp>
      <p:sp>
        <p:nvSpPr>
          <p:cNvPr id="7" name="Text 5"/>
          <p:cNvSpPr/>
          <p:nvPr/>
        </p:nvSpPr>
        <p:spPr>
          <a:xfrm>
            <a:off x="2560320" y="1508760"/>
            <a:ext cx="8686800" cy="1051560"/>
          </a:xfrm>
          <a:prstGeom prst="rect">
            <a:avLst/>
          </a:prstGeom>
          <a:noFill/>
          <a:ln/>
        </p:spPr>
        <p:txBody>
          <a:bodyPr wrap="square" lIns="0" tIns="0" rIns="0" bIns="0" rtlCol="0" anchor="ctr"/>
          <a:lstStyle/>
          <a:p>
            <a:pPr indent="0" marL="0">
              <a:buNone/>
            </a:pPr>
            <a:r>
              <a:rPr lang="en-US" sz="2300" b="1" dirty="0">
                <a:solidFill>
                  <a:srgbClr val="FFFFFF"/>
                </a:solidFill>
                <a:latin typeface="Meiryo" pitchFamily="34" charset="0"/>
                <a:ea typeface="Meiryo" pitchFamily="34" charset="-122"/>
                <a:cs typeface="Meiryo" pitchFamily="34" charset="-120"/>
              </a:rPr>
              <a:t>「源泉」となり、挑戦者の熱を全国へ波及させる</a:t>
            </a:r>
            <a:endParaRPr lang="en-US" sz="2300" dirty="0"/>
          </a:p>
        </p:txBody>
      </p:sp>
      <p:sp>
        <p:nvSpPr>
          <p:cNvPr id="8" name="Shape 6"/>
          <p:cNvSpPr/>
          <p:nvPr/>
        </p:nvSpPr>
        <p:spPr>
          <a:xfrm>
            <a:off x="640080" y="2697480"/>
            <a:ext cx="10881360" cy="1051560"/>
          </a:xfrm>
          <a:prstGeom prst="roundRect">
            <a:avLst>
              <a:gd name="adj" fmla="val 6957"/>
            </a:avLst>
          </a:prstGeom>
          <a:solidFill>
            <a:srgbClr val="1E3E6B"/>
          </a:solidFill>
          <a:ln w="15875">
            <a:solidFill>
              <a:srgbClr val="E2703A"/>
            </a:solidFill>
            <a:prstDash val="solid"/>
          </a:ln>
        </p:spPr>
        <p:txBody>
          <a:bodyPr/>
          <a:p/>
        </p:txBody>
      </p:sp>
      <p:sp>
        <p:nvSpPr>
          <p:cNvPr id="9" name="Text 7"/>
          <p:cNvSpPr/>
          <p:nvPr/>
        </p:nvSpPr>
        <p:spPr>
          <a:xfrm>
            <a:off x="960120" y="2697480"/>
            <a:ext cx="1554480" cy="1051560"/>
          </a:xfrm>
          <a:prstGeom prst="rect">
            <a:avLst/>
          </a:prstGeom>
          <a:noFill/>
          <a:ln/>
        </p:spPr>
        <p:txBody>
          <a:bodyPr wrap="square" lIns="0" tIns="0" rIns="0" bIns="0" rtlCol="0" anchor="ctr"/>
          <a:lstStyle/>
          <a:p>
            <a:pPr indent="0" marL="0">
              <a:buNone/>
            </a:pPr>
            <a:r>
              <a:rPr lang="en-US" sz="1100" b="1" dirty="0">
                <a:solidFill>
                  <a:srgbClr val="E2703A"/>
                </a:solidFill>
                <a:latin typeface="Meiryo" pitchFamily="34" charset="0"/>
                <a:ea typeface="Meiryo" pitchFamily="34" charset="-122"/>
                <a:cs typeface="Meiryo" pitchFamily="34" charset="-120"/>
              </a:rPr>
              <a:t>VISION</a:t>
            </a:r>
            <a:endParaRPr lang="en-US" sz="1100" dirty="0"/>
          </a:p>
        </p:txBody>
      </p:sp>
      <p:sp>
        <p:nvSpPr>
          <p:cNvPr id="10" name="Text 8"/>
          <p:cNvSpPr/>
          <p:nvPr/>
        </p:nvSpPr>
        <p:spPr>
          <a:xfrm>
            <a:off x="2560320" y="2697480"/>
            <a:ext cx="8686800" cy="1051560"/>
          </a:xfrm>
          <a:prstGeom prst="rect">
            <a:avLst/>
          </a:prstGeom>
          <a:noFill/>
          <a:ln/>
        </p:spPr>
        <p:txBody>
          <a:bodyPr wrap="square" lIns="0" tIns="0" rIns="0" bIns="0" rtlCol="0" anchor="ctr"/>
          <a:lstStyle/>
          <a:p>
            <a:pPr indent="0" marL="0">
              <a:buNone/>
            </a:pPr>
            <a:r>
              <a:rPr lang="en-US" sz="2300" b="1" dirty="0">
                <a:solidFill>
                  <a:srgbClr val="FFFFFF"/>
                </a:solidFill>
                <a:latin typeface="Meiryo" pitchFamily="34" charset="0"/>
                <a:ea typeface="Meiryo" pitchFamily="34" charset="-122"/>
                <a:cs typeface="Meiryo" pitchFamily="34" charset="-120"/>
              </a:rPr>
              <a:t>「越境」が日常になる社会</a:t>
            </a:r>
            <a:endParaRPr lang="en-US" sz="2300" dirty="0"/>
          </a:p>
        </p:txBody>
      </p:sp>
      <p:sp>
        <p:nvSpPr>
          <p:cNvPr id="11" name="Text 9"/>
          <p:cNvSpPr/>
          <p:nvPr/>
        </p:nvSpPr>
        <p:spPr>
          <a:xfrm>
            <a:off x="640080" y="4023360"/>
            <a:ext cx="10881360" cy="1188720"/>
          </a:xfrm>
          <a:prstGeom prst="rect">
            <a:avLst/>
          </a:prstGeom>
          <a:noFill/>
          <a:ln/>
        </p:spPr>
        <p:txBody>
          <a:bodyPr wrap="square" lIns="0" tIns="0" rIns="0" bIns="0" rtlCol="0" anchor="t"/>
          <a:lstStyle/>
          <a:p>
            <a:pPr indent="0" marL="0">
              <a:lnSpc>
                <a:spcPts val="2400"/>
              </a:lnSpc>
              <a:buNone/>
            </a:pPr>
            <a:r>
              <a:rPr lang="en-US" sz="1350" dirty="0">
                <a:solidFill>
                  <a:srgbClr val="C3D1E2"/>
                </a:solidFill>
                <a:latin typeface="Meiryo" pitchFamily="34" charset="0"/>
                <a:ea typeface="Meiryo" pitchFamily="34" charset="-122"/>
                <a:cs typeface="Meiryo" pitchFamily="34" charset="-120"/>
              </a:rPr>
              <a:t>運営リソースが3名に限定されている現状は、悲観すべきではない。別府という土地が持つ「誰もが服を脱ぎ、同じ湯に浸かる」圧倒的な受容性とフラットな文化を極限まで活かし、旅館での「合宿型・少人数制」という濃密なフォーマットへ昇華させることで、大規模開催では決して得られない深い心理的安全性と自己変容の機会を提供できる。</a:t>
            </a:r>
            <a:endParaRPr lang="en-US" sz="1350" dirty="0"/>
          </a:p>
        </p:txBody>
      </p:sp>
      <p:sp>
        <p:nvSpPr>
          <p:cNvPr id="12" name="Text 10"/>
          <p:cNvSpPr/>
          <p:nvPr/>
        </p:nvSpPr>
        <p:spPr>
          <a:xfrm>
            <a:off x="640080" y="5349240"/>
            <a:ext cx="10881360" cy="411480"/>
          </a:xfrm>
          <a:prstGeom prst="rect">
            <a:avLst/>
          </a:prstGeom>
          <a:noFill/>
          <a:ln/>
        </p:spPr>
        <p:txBody>
          <a:bodyPr wrap="square" lIns="0" tIns="0" rIns="0" bIns="0" rtlCol="0" anchor="ctr"/>
          <a:lstStyle/>
          <a:p>
            <a:pPr indent="0" marL="0">
              <a:buNone/>
            </a:pPr>
            <a:r>
              <a:rPr lang="en-US" sz="1400" b="1" dirty="0">
                <a:solidFill>
                  <a:srgbClr val="E2703A"/>
                </a:solidFill>
                <a:latin typeface="Meiryo" pitchFamily="34" charset="0"/>
                <a:ea typeface="Meiryo" pitchFamily="34" charset="-122"/>
                <a:cs typeface="Meiryo" pitchFamily="34" charset="-120"/>
              </a:rPr>
              <a:t>研ぎ澄まされた言語化こそが、新たな共感者（運営メンバー）と強力なサポーター（協賛企業）を引き寄せる最大の引力となる。</a:t>
            </a:r>
            <a:endParaRPr lang="en-US" sz="1400" dirty="0"/>
          </a:p>
        </p:txBody>
      </p:sp>
      <p:sp>
        <p:nvSpPr>
          <p:cNvPr id="13" name="Text 11"/>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18</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REFERENCES</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引用文献</a:t>
            </a:r>
            <a:endParaRPr lang="en-US" sz="3000" dirty="0"/>
          </a:p>
        </p:txBody>
      </p:sp>
      <p:sp>
        <p:nvSpPr>
          <p:cNvPr id="4" name="Text 2"/>
          <p:cNvSpPr/>
          <p:nvPr/>
        </p:nvSpPr>
        <p:spPr>
          <a:xfrm>
            <a:off x="640080" y="1554480"/>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01</a:t>
            </a:r>
            <a:endParaRPr lang="en-US" sz="1100" dirty="0"/>
          </a:p>
        </p:txBody>
      </p:sp>
      <p:sp>
        <p:nvSpPr>
          <p:cNvPr id="5" name="Text 3"/>
          <p:cNvSpPr/>
          <p:nvPr/>
        </p:nvSpPr>
        <p:spPr>
          <a:xfrm>
            <a:off x="1097280" y="1554480"/>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CLS別府 公式サイト — cls-beppu.com</a:t>
            </a:r>
            <a:endParaRPr lang="en-US" sz="1050" dirty="0"/>
          </a:p>
        </p:txBody>
      </p:sp>
      <p:sp>
        <p:nvSpPr>
          <p:cNvPr id="6" name="Text 4"/>
          <p:cNvSpPr/>
          <p:nvPr/>
        </p:nvSpPr>
        <p:spPr>
          <a:xfrm>
            <a:off x="640080" y="2121408"/>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02</a:t>
            </a:r>
            <a:endParaRPr lang="en-US" sz="1100" dirty="0"/>
          </a:p>
        </p:txBody>
      </p:sp>
      <p:sp>
        <p:nvSpPr>
          <p:cNvPr id="7" name="Text 5"/>
          <p:cNvSpPr/>
          <p:nvPr/>
        </p:nvSpPr>
        <p:spPr>
          <a:xfrm>
            <a:off x="1097280" y="2121408"/>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卒業して一般参加する今だから振り返るCLS高知の歴史と運営スタッフの体験（note／yukataoka）</a:t>
            </a:r>
            <a:endParaRPr lang="en-US" sz="1050" dirty="0"/>
          </a:p>
        </p:txBody>
      </p:sp>
      <p:sp>
        <p:nvSpPr>
          <p:cNvPr id="8" name="Text 6"/>
          <p:cNvSpPr/>
          <p:nvPr/>
        </p:nvSpPr>
        <p:spPr>
          <a:xfrm>
            <a:off x="640080" y="2688336"/>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03</a:t>
            </a:r>
            <a:endParaRPr lang="en-US" sz="1100" dirty="0"/>
          </a:p>
        </p:txBody>
      </p:sp>
      <p:sp>
        <p:nvSpPr>
          <p:cNvPr id="9" name="Text 7"/>
          <p:cNvSpPr/>
          <p:nvPr/>
        </p:nvSpPr>
        <p:spPr>
          <a:xfrm>
            <a:off x="1097280" y="2688336"/>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CLS高知とは | コミュニティリーダーズサミットin高知 — cls-kochi.com/aboutus</a:t>
            </a:r>
            <a:endParaRPr lang="en-US" sz="1050" dirty="0"/>
          </a:p>
        </p:txBody>
      </p:sp>
      <p:sp>
        <p:nvSpPr>
          <p:cNvPr id="10" name="Text 8"/>
          <p:cNvSpPr/>
          <p:nvPr/>
        </p:nvSpPr>
        <p:spPr>
          <a:xfrm>
            <a:off x="640080" y="3255264"/>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04</a:t>
            </a:r>
            <a:endParaRPr lang="en-US" sz="1100" dirty="0"/>
          </a:p>
        </p:txBody>
      </p:sp>
      <p:sp>
        <p:nvSpPr>
          <p:cNvPr id="11" name="Text 9"/>
          <p:cNvSpPr/>
          <p:nvPr/>
        </p:nvSpPr>
        <p:spPr>
          <a:xfrm>
            <a:off x="1097280" y="3255264"/>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一般社団法人CLS高知設立のお知らせ — cls-kochi.com</a:t>
            </a:r>
            <a:endParaRPr lang="en-US" sz="1050" dirty="0"/>
          </a:p>
        </p:txBody>
      </p:sp>
      <p:sp>
        <p:nvSpPr>
          <p:cNvPr id="12" name="Text 10"/>
          <p:cNvSpPr/>
          <p:nvPr/>
        </p:nvSpPr>
        <p:spPr>
          <a:xfrm>
            <a:off x="640080" y="3822192"/>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05</a:t>
            </a:r>
            <a:endParaRPr lang="en-US" sz="1100" dirty="0"/>
          </a:p>
        </p:txBody>
      </p:sp>
      <p:sp>
        <p:nvSpPr>
          <p:cNvPr id="13" name="Text 11"/>
          <p:cNvSpPr/>
          <p:nvPr/>
        </p:nvSpPr>
        <p:spPr>
          <a:xfrm>
            <a:off x="1097280" y="3822192"/>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「CLS 高知」初の東京開催決定（2026年10月3日・東京ポートシティ竹芝／500名規模）</a:t>
            </a:r>
            <a:endParaRPr lang="en-US" sz="1050" dirty="0"/>
          </a:p>
        </p:txBody>
      </p:sp>
      <p:sp>
        <p:nvSpPr>
          <p:cNvPr id="14" name="Text 12"/>
          <p:cNvSpPr/>
          <p:nvPr/>
        </p:nvSpPr>
        <p:spPr>
          <a:xfrm>
            <a:off x="640080" y="4389120"/>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06</a:t>
            </a:r>
            <a:endParaRPr lang="en-US" sz="1100" dirty="0"/>
          </a:p>
        </p:txBody>
      </p:sp>
      <p:sp>
        <p:nvSpPr>
          <p:cNvPr id="15" name="Text 13"/>
          <p:cNvSpPr/>
          <p:nvPr/>
        </p:nvSpPr>
        <p:spPr>
          <a:xfrm>
            <a:off x="1097280" y="4389120"/>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熱狂する大人たちが高知に集結！CLS高知の魅力を語る（note／原田 泰裕）</a:t>
            </a:r>
            <a:endParaRPr lang="en-US" sz="1050" dirty="0"/>
          </a:p>
        </p:txBody>
      </p:sp>
      <p:sp>
        <p:nvSpPr>
          <p:cNvPr id="16" name="Text 14"/>
          <p:cNvSpPr/>
          <p:nvPr/>
        </p:nvSpPr>
        <p:spPr>
          <a:xfrm>
            <a:off x="640080" y="4956048"/>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07</a:t>
            </a:r>
            <a:endParaRPr lang="en-US" sz="1100" dirty="0"/>
          </a:p>
        </p:txBody>
      </p:sp>
      <p:sp>
        <p:nvSpPr>
          <p:cNvPr id="17" name="Text 15"/>
          <p:cNvSpPr/>
          <p:nvPr/>
        </p:nvSpPr>
        <p:spPr>
          <a:xfrm>
            <a:off x="1097280" y="4956048"/>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CLS高知2024戻鰹編 参加レポ（note／ふじい まゆ）</a:t>
            </a:r>
            <a:endParaRPr lang="en-US" sz="1050" dirty="0"/>
          </a:p>
        </p:txBody>
      </p:sp>
      <p:sp>
        <p:nvSpPr>
          <p:cNvPr id="18" name="Text 16"/>
          <p:cNvSpPr/>
          <p:nvPr/>
        </p:nvSpPr>
        <p:spPr>
          <a:xfrm>
            <a:off x="6263640" y="1554480"/>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08</a:t>
            </a:r>
            <a:endParaRPr lang="en-US" sz="1100" dirty="0"/>
          </a:p>
        </p:txBody>
      </p:sp>
      <p:sp>
        <p:nvSpPr>
          <p:cNvPr id="19" name="Text 17"/>
          <p:cNvSpPr/>
          <p:nvPr/>
        </p:nvSpPr>
        <p:spPr>
          <a:xfrm>
            <a:off x="6720840" y="1554480"/>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2024年5月18日 CLS高知2024初鰹編 イベントレポート（note／in0u）</a:t>
            </a:r>
            <a:endParaRPr lang="en-US" sz="1050" dirty="0"/>
          </a:p>
        </p:txBody>
      </p:sp>
      <p:sp>
        <p:nvSpPr>
          <p:cNvPr id="20" name="Text 18"/>
          <p:cNvSpPr/>
          <p:nvPr/>
        </p:nvSpPr>
        <p:spPr>
          <a:xfrm>
            <a:off x="6263640" y="2121408"/>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09</a:t>
            </a:r>
            <a:endParaRPr lang="en-US" sz="1100" dirty="0"/>
          </a:p>
        </p:txBody>
      </p:sp>
      <p:sp>
        <p:nvSpPr>
          <p:cNvPr id="21" name="Text 19"/>
          <p:cNvSpPr/>
          <p:nvPr/>
        </p:nvSpPr>
        <p:spPr>
          <a:xfrm>
            <a:off x="6720840" y="2121408"/>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CLS高知2025初鰹編参加レポ＞高知で見つけた"ピース"たち（note／ふじい まゆ）</a:t>
            </a:r>
            <a:endParaRPr lang="en-US" sz="1050" dirty="0"/>
          </a:p>
        </p:txBody>
      </p:sp>
      <p:sp>
        <p:nvSpPr>
          <p:cNvPr id="22" name="Text 20"/>
          <p:cNvSpPr/>
          <p:nvPr/>
        </p:nvSpPr>
        <p:spPr>
          <a:xfrm>
            <a:off x="6263640" y="2688336"/>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10</a:t>
            </a:r>
            <a:endParaRPr lang="en-US" sz="1100" dirty="0"/>
          </a:p>
        </p:txBody>
      </p:sp>
      <p:sp>
        <p:nvSpPr>
          <p:cNvPr id="23" name="Text 21"/>
          <p:cNvSpPr/>
          <p:nvPr/>
        </p:nvSpPr>
        <p:spPr>
          <a:xfrm>
            <a:off x="6720840" y="2688336"/>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Qiita 記事（RyoWakabayashi）— qiita.com/RyoWakabayashi</a:t>
            </a:r>
            <a:endParaRPr lang="en-US" sz="1050" dirty="0"/>
          </a:p>
        </p:txBody>
      </p:sp>
      <p:sp>
        <p:nvSpPr>
          <p:cNvPr id="24" name="Text 22"/>
          <p:cNvSpPr/>
          <p:nvPr/>
        </p:nvSpPr>
        <p:spPr>
          <a:xfrm>
            <a:off x="6263640" y="3255264"/>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11</a:t>
            </a:r>
            <a:endParaRPr lang="en-US" sz="1100" dirty="0"/>
          </a:p>
        </p:txBody>
      </p:sp>
      <p:sp>
        <p:nvSpPr>
          <p:cNvPr id="25" name="Text 23"/>
          <p:cNvSpPr/>
          <p:nvPr/>
        </p:nvSpPr>
        <p:spPr>
          <a:xfrm>
            <a:off x="6720840" y="3255264"/>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コミュニティリーダーズサミットin高知 公式サイト — cls-kochi.com</a:t>
            </a:r>
            <a:endParaRPr lang="en-US" sz="1050" dirty="0"/>
          </a:p>
        </p:txBody>
      </p:sp>
      <p:sp>
        <p:nvSpPr>
          <p:cNvPr id="26" name="Text 24"/>
          <p:cNvSpPr/>
          <p:nvPr/>
        </p:nvSpPr>
        <p:spPr>
          <a:xfrm>
            <a:off x="6263640" y="3822192"/>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12</a:t>
            </a:r>
            <a:endParaRPr lang="en-US" sz="1100" dirty="0"/>
          </a:p>
        </p:txBody>
      </p:sp>
      <p:sp>
        <p:nvSpPr>
          <p:cNvPr id="27" name="Text 25"/>
          <p:cNvSpPr/>
          <p:nvPr/>
        </p:nvSpPr>
        <p:spPr>
          <a:xfrm>
            <a:off x="6720840" y="3822192"/>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コミュニティリーダーズサミット CLS 出島（長崎）— Work Design Lab</a:t>
            </a:r>
            <a:endParaRPr lang="en-US" sz="1050" dirty="0"/>
          </a:p>
        </p:txBody>
      </p:sp>
      <p:sp>
        <p:nvSpPr>
          <p:cNvPr id="28" name="Text 26"/>
          <p:cNvSpPr/>
          <p:nvPr/>
        </p:nvSpPr>
        <p:spPr>
          <a:xfrm>
            <a:off x="6263640" y="4389120"/>
            <a:ext cx="411480" cy="457200"/>
          </a:xfrm>
          <a:prstGeom prst="rect">
            <a:avLst/>
          </a:prstGeom>
          <a:noFill/>
          <a:ln/>
        </p:spPr>
        <p:txBody>
          <a:bodyPr wrap="square" lIns="0" tIns="0" rIns="0" bIns="0" rtlCol="0" anchor="t"/>
          <a:lstStyle/>
          <a:p>
            <a:pPr indent="0" marL="0">
              <a:buNone/>
            </a:pPr>
            <a:r>
              <a:rPr lang="en-US" sz="1100" b="1" dirty="0">
                <a:solidFill>
                  <a:srgbClr val="E2703A"/>
                </a:solidFill>
                <a:latin typeface="Meiryo" pitchFamily="34" charset="0"/>
                <a:ea typeface="Meiryo" pitchFamily="34" charset="-122"/>
                <a:cs typeface="Meiryo" pitchFamily="34" charset="-120"/>
              </a:rPr>
              <a:t>13</a:t>
            </a:r>
            <a:endParaRPr lang="en-US" sz="1100" dirty="0"/>
          </a:p>
        </p:txBody>
      </p:sp>
      <p:sp>
        <p:nvSpPr>
          <p:cNvPr id="29" name="Text 27"/>
          <p:cNvSpPr/>
          <p:nvPr/>
        </p:nvSpPr>
        <p:spPr>
          <a:xfrm>
            <a:off x="6720840" y="4389120"/>
            <a:ext cx="4937760" cy="530352"/>
          </a:xfrm>
          <a:prstGeom prst="rect">
            <a:avLst/>
          </a:prstGeom>
          <a:noFill/>
          <a:ln/>
        </p:spPr>
        <p:txBody>
          <a:bodyPr wrap="square" lIns="0" tIns="0" rIns="0" bIns="0" rtlCol="0" anchor="t"/>
          <a:lstStyle/>
          <a:p>
            <a:pPr indent="0" marL="0">
              <a:lnSpc>
                <a:spcPts val="1500"/>
              </a:lnSpc>
              <a:buNone/>
            </a:pPr>
            <a:r>
              <a:rPr lang="en-US" sz="1050" dirty="0">
                <a:solidFill>
                  <a:srgbClr val="1F2933"/>
                </a:solidFill>
                <a:latin typeface="Meiryo" pitchFamily="34" charset="0"/>
                <a:ea typeface="Meiryo" pitchFamily="34" charset="-122"/>
                <a:cs typeface="Meiryo" pitchFamily="34" charset="-120"/>
              </a:rPr>
              <a:t>コミュニティリーダーズサミット CLS 出島 — CO-DEJIMA</a:t>
            </a:r>
            <a:endParaRPr lang="en-US" sz="1050" dirty="0"/>
          </a:p>
        </p:txBody>
      </p:sp>
      <p:sp>
        <p:nvSpPr>
          <p:cNvPr id="30" name="Text 28"/>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19</a:t>
            </a:r>
            <a:endParaRPr lang="en-US" sz="10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201168"/>
            <a:ext cx="10881360" cy="274320"/>
          </a:xfrm>
          <a:prstGeom prst="rect">
            <a:avLst/>
          </a:prstGeom>
          <a:noFill/>
          <a:ln/>
        </p:spPr>
        <p:txBody>
          <a:bodyPr wrap="square" lIns="0" tIns="0" rIns="0" bIns="0" rtlCol="0" anchor="ctr"/>
          <a:lstStyle/>
          <a:p>
            <a:pPr indent="0" marL="0">
              <a:buNone/>
            </a:pPr>
            <a:r>
              <a:rPr lang="en-US" sz="1150" b="1" spc="200" kern="0" dirty="0">
                <a:solidFill>
                  <a:srgbClr val="E2703A"/>
                </a:solidFill>
                <a:latin typeface="Meiryo" pitchFamily="34" charset="0"/>
                <a:ea typeface="Meiryo" pitchFamily="34" charset="-122"/>
                <a:cs typeface="Meiryo" pitchFamily="34" charset="-120"/>
              </a:rPr>
              <a:t>ACTION 03</a:t>
            </a:r>
            <a:endParaRPr lang="en-US" sz="115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000" b="1" dirty="0">
                <a:solidFill>
                  <a:srgbClr val="132A4A"/>
                </a:solidFill>
                <a:latin typeface="Meiryo" pitchFamily="34" charset="0"/>
                <a:ea typeface="Meiryo" pitchFamily="34" charset="-122"/>
                <a:cs typeface="Meiryo" pitchFamily="34" charset="-120"/>
              </a:rPr>
              <a:t>参加者は「面」で集め、「名指し」で巻き込む</a:t>
            </a:r>
            <a:endParaRPr lang="en-US" sz="3000" dirty="0"/>
          </a:p>
        </p:txBody>
      </p:sp>
      <p:sp>
        <p:nvSpPr>
          <p:cNvPr id="4" name="Text 2"/>
          <p:cNvSpPr/>
          <p:nvPr/>
        </p:nvSpPr>
        <p:spPr>
          <a:xfrm>
            <a:off x="640080" y="1298448"/>
            <a:ext cx="10881360" cy="365760"/>
          </a:xfrm>
          <a:prstGeom prst="rect">
            <a:avLst/>
          </a:prstGeom>
          <a:noFill/>
          <a:ln/>
        </p:spPr>
        <p:txBody>
          <a:bodyPr wrap="square" lIns="0" tIns="0" rIns="0" bIns="0" rtlCol="0" anchor="ctr"/>
          <a:lstStyle/>
          <a:p>
            <a:pPr indent="0" marL="0">
              <a:buNone/>
            </a:pPr>
            <a:r>
              <a:rPr lang="en-US" sz="1250" dirty="0">
                <a:solidFill>
                  <a:srgbClr val="667384"/>
                </a:solidFill>
                <a:latin typeface="Meiryo" pitchFamily="34" charset="0"/>
                <a:ea typeface="Meiryo" pitchFamily="34" charset="-122"/>
                <a:cs typeface="Meiryo" pitchFamily="34" charset="-120"/>
              </a:rPr>
              <a:t>小規模・高単価な合宿型では、不特定多数へのマス広告ではなく、熱量の高い層へピンポイントでリーチし「当事者」として巻き込む。</a:t>
            </a:r>
            <a:endParaRPr lang="en-US" sz="1250" dirty="0"/>
          </a:p>
        </p:txBody>
      </p:sp>
      <p:sp>
        <p:nvSpPr>
          <p:cNvPr id="5" name="Shape 3"/>
          <p:cNvSpPr/>
          <p:nvPr/>
        </p:nvSpPr>
        <p:spPr>
          <a:xfrm>
            <a:off x="640080" y="1874520"/>
            <a:ext cx="3566160" cy="3520440"/>
          </a:xfrm>
          <a:prstGeom prst="roundRect">
            <a:avLst>
              <a:gd name="adj" fmla="val 2078"/>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6" name="Shape 4"/>
          <p:cNvSpPr/>
          <p:nvPr/>
        </p:nvSpPr>
        <p:spPr>
          <a:xfrm>
            <a:off x="932688" y="2148840"/>
            <a:ext cx="1691640" cy="310896"/>
          </a:xfrm>
          <a:prstGeom prst="roundRect">
            <a:avLst>
              <a:gd name="adj" fmla="val 50000"/>
            </a:avLst>
          </a:prstGeom>
          <a:solidFill>
            <a:srgbClr val="E2703A"/>
          </a:solidFill>
          <a:ln w="12700">
            <a:solidFill>
              <a:srgbClr val="333333"/>
            </a:solidFill>
            <a:prstDash val="solid"/>
          </a:ln>
        </p:spPr>
      </p:sp>
      <p:sp>
        <p:nvSpPr>
          <p:cNvPr id="7" name="Text 5"/>
          <p:cNvSpPr/>
          <p:nvPr/>
        </p:nvSpPr>
        <p:spPr>
          <a:xfrm>
            <a:off x="932688" y="2148840"/>
            <a:ext cx="16916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Meiryo" pitchFamily="34" charset="0"/>
                <a:ea typeface="Meiryo" pitchFamily="34" charset="-122"/>
                <a:cs typeface="Meiryo" pitchFamily="34" charset="-120"/>
              </a:rPr>
              <a:t>事前熱狂</a:t>
            </a:r>
            <a:endParaRPr lang="en-US" sz="950" dirty="0"/>
          </a:p>
        </p:txBody>
      </p:sp>
      <p:sp>
        <p:nvSpPr>
          <p:cNvPr id="8" name="Text 6"/>
          <p:cNvSpPr/>
          <p:nvPr/>
        </p:nvSpPr>
        <p:spPr>
          <a:xfrm>
            <a:off x="932688" y="2606040"/>
            <a:ext cx="2980944" cy="914400"/>
          </a:xfrm>
          <a:prstGeom prst="rect">
            <a:avLst/>
          </a:prstGeom>
          <a:noFill/>
          <a:ln/>
        </p:spPr>
        <p:txBody>
          <a:bodyPr wrap="square" lIns="0" tIns="0" rIns="0" bIns="0" rtlCol="0" anchor="t"/>
          <a:lstStyle/>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プレヒート</a:t>
            </a:r>
            <a:endParaRPr lang="en-US" sz="2000" dirty="0"/>
          </a:p>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イベント</a:t>
            </a:r>
            <a:endParaRPr lang="en-US" sz="2000" dirty="0"/>
          </a:p>
        </p:txBody>
      </p:sp>
      <p:sp>
        <p:nvSpPr>
          <p:cNvPr id="9" name="Text 7"/>
          <p:cNvSpPr/>
          <p:nvPr/>
        </p:nvSpPr>
        <p:spPr>
          <a:xfrm>
            <a:off x="932688" y="3566160"/>
            <a:ext cx="2980944" cy="274320"/>
          </a:xfrm>
          <a:prstGeom prst="rect">
            <a:avLst/>
          </a:prstGeom>
          <a:noFill/>
          <a:ln/>
        </p:spPr>
        <p:txBody>
          <a:bodyPr wrap="square" lIns="0" tIns="0" rIns="0" bIns="0" rtlCol="0" anchor="ctr"/>
          <a:lstStyle/>
          <a:p>
            <a:pPr indent="0" marL="0">
              <a:buNone/>
            </a:pPr>
            <a:r>
              <a:rPr lang="en-US" sz="1100" b="1" dirty="0">
                <a:solidFill>
                  <a:srgbClr val="E2703A"/>
                </a:solidFill>
                <a:latin typeface="Meiryo" pitchFamily="34" charset="0"/>
                <a:ea typeface="Meiryo" pitchFamily="34" charset="-122"/>
                <a:cs typeface="Meiryo" pitchFamily="34" charset="-120"/>
              </a:rPr>
              <a:t>本編の数ヶ月前から</a:t>
            </a:r>
            <a:endParaRPr lang="en-US" sz="1100" dirty="0"/>
          </a:p>
        </p:txBody>
      </p:sp>
      <p:sp>
        <p:nvSpPr>
          <p:cNvPr id="10" name="Text 8"/>
          <p:cNvSpPr/>
          <p:nvPr/>
        </p:nvSpPr>
        <p:spPr>
          <a:xfrm>
            <a:off x="932688" y="3886200"/>
            <a:ext cx="2980944" cy="137160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初参加者が抱く「コミュニティのノリについていけるか」という不安を払拭するため、少人数の事前交流会をオンライン・オフラインで開催。CLSの楽しみ方と文脈を先に共有し、参加の心理的ハードルを下げる。</a:t>
            </a:r>
            <a:endParaRPr lang="en-US" sz="1150" dirty="0"/>
          </a:p>
        </p:txBody>
      </p:sp>
      <p:sp>
        <p:nvSpPr>
          <p:cNvPr id="11" name="Shape 9"/>
          <p:cNvSpPr/>
          <p:nvPr/>
        </p:nvSpPr>
        <p:spPr>
          <a:xfrm>
            <a:off x="4480560" y="1874520"/>
            <a:ext cx="3566160" cy="3520440"/>
          </a:xfrm>
          <a:prstGeom prst="roundRect">
            <a:avLst>
              <a:gd name="adj" fmla="val 2078"/>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2" name="Shape 10"/>
          <p:cNvSpPr/>
          <p:nvPr/>
        </p:nvSpPr>
        <p:spPr>
          <a:xfrm>
            <a:off x="4773168" y="2148840"/>
            <a:ext cx="1691640" cy="310896"/>
          </a:xfrm>
          <a:prstGeom prst="roundRect">
            <a:avLst>
              <a:gd name="adj" fmla="val 50000"/>
            </a:avLst>
          </a:prstGeom>
          <a:solidFill>
            <a:srgbClr val="132A4A"/>
          </a:solidFill>
          <a:ln w="12700">
            <a:solidFill>
              <a:srgbClr val="333333"/>
            </a:solidFill>
            <a:prstDash val="solid"/>
          </a:ln>
        </p:spPr>
      </p:sp>
      <p:sp>
        <p:nvSpPr>
          <p:cNvPr id="13" name="Text 11"/>
          <p:cNvSpPr/>
          <p:nvPr/>
        </p:nvSpPr>
        <p:spPr>
          <a:xfrm>
            <a:off x="4773168" y="2148840"/>
            <a:ext cx="16916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Meiryo" pitchFamily="34" charset="0"/>
                <a:ea typeface="Meiryo" pitchFamily="34" charset="-122"/>
                <a:cs typeface="Meiryo" pitchFamily="34" charset="-120"/>
              </a:rPr>
              <a:t>面で繋ぐ</a:t>
            </a:r>
            <a:endParaRPr lang="en-US" sz="950" dirty="0"/>
          </a:p>
        </p:txBody>
      </p:sp>
      <p:sp>
        <p:nvSpPr>
          <p:cNvPr id="14" name="Text 12"/>
          <p:cNvSpPr/>
          <p:nvPr/>
        </p:nvSpPr>
        <p:spPr>
          <a:xfrm>
            <a:off x="4773168" y="2606040"/>
            <a:ext cx="2980944" cy="914400"/>
          </a:xfrm>
          <a:prstGeom prst="rect">
            <a:avLst/>
          </a:prstGeom>
          <a:noFill/>
          <a:ln/>
        </p:spPr>
        <p:txBody>
          <a:bodyPr wrap="square" lIns="0" tIns="0" rIns="0" bIns="0" rtlCol="0" anchor="t"/>
          <a:lstStyle/>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既存コミュニティ</a:t>
            </a:r>
            <a:endParaRPr lang="en-US" sz="2000" dirty="0"/>
          </a:p>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への「出稽古」</a:t>
            </a:r>
            <a:endParaRPr lang="en-US" sz="2000" dirty="0"/>
          </a:p>
        </p:txBody>
      </p:sp>
      <p:sp>
        <p:nvSpPr>
          <p:cNvPr id="15" name="Text 13"/>
          <p:cNvSpPr/>
          <p:nvPr/>
        </p:nvSpPr>
        <p:spPr>
          <a:xfrm>
            <a:off x="4773168" y="3566160"/>
            <a:ext cx="2980944" cy="274320"/>
          </a:xfrm>
          <a:prstGeom prst="rect">
            <a:avLst/>
          </a:prstGeom>
          <a:noFill/>
          <a:ln/>
        </p:spPr>
        <p:txBody>
          <a:bodyPr wrap="square" lIns="0" tIns="0" rIns="0" bIns="0" rtlCol="0" anchor="ctr"/>
          <a:lstStyle/>
          <a:p>
            <a:pPr indent="0" marL="0">
              <a:buNone/>
            </a:pPr>
            <a:r>
              <a:rPr lang="en-US" sz="1100" b="1" dirty="0">
                <a:solidFill>
                  <a:srgbClr val="E2703A"/>
                </a:solidFill>
                <a:latin typeface="Meiryo" pitchFamily="34" charset="0"/>
                <a:ea typeface="Meiryo" pitchFamily="34" charset="-122"/>
                <a:cs typeface="Meiryo" pitchFamily="34" charset="-120"/>
              </a:rPr>
              <a:t>運営メンバー自らが足を運ぶ</a:t>
            </a:r>
            <a:endParaRPr lang="en-US" sz="1100" dirty="0"/>
          </a:p>
        </p:txBody>
      </p:sp>
      <p:sp>
        <p:nvSpPr>
          <p:cNvPr id="16" name="Text 14"/>
          <p:cNvSpPr/>
          <p:nvPr/>
        </p:nvSpPr>
        <p:spPr>
          <a:xfrm>
            <a:off x="4773168" y="3886200"/>
            <a:ext cx="2980944" cy="137160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大分・別府エリアの他コミュニティ（技術系勉強会、ITユーザグループ、BEPPU FAN TOWN など）へ運営自らが足を運び、直接参加を呼びかける。点在するコミュニティをCLSというハブへ接続する。</a:t>
            </a:r>
            <a:endParaRPr lang="en-US" sz="1150" dirty="0"/>
          </a:p>
        </p:txBody>
      </p:sp>
      <p:sp>
        <p:nvSpPr>
          <p:cNvPr id="17" name="Shape 15"/>
          <p:cNvSpPr/>
          <p:nvPr/>
        </p:nvSpPr>
        <p:spPr>
          <a:xfrm>
            <a:off x="8321040" y="1874520"/>
            <a:ext cx="3566160" cy="3520440"/>
          </a:xfrm>
          <a:prstGeom prst="roundRect">
            <a:avLst>
              <a:gd name="adj" fmla="val 2078"/>
            </a:avLst>
          </a:prstGeom>
          <a:solidFill>
            <a:srgbClr val="F4F7FA"/>
          </a:solidFill>
          <a:ln w="9525">
            <a:solidFill>
              <a:srgbClr val="E3E9F0"/>
            </a:solidFill>
            <a:prstDash val="solid"/>
          </a:ln>
          <a:effectLst>
            <a:outerShdw sx="100000" sy="100000" kx="0" ky="0" algn="bl" rotWithShape="0" blurRad="101600" dist="508" dir="5400000">
              <a:srgbClr val="9AA7B5">
                <a:alpha val="22000"/>
              </a:srgbClr>
            </a:outerShdw>
          </a:effectLst>
        </p:spPr>
      </p:sp>
      <p:sp>
        <p:nvSpPr>
          <p:cNvPr id="18" name="Shape 16"/>
          <p:cNvSpPr/>
          <p:nvPr/>
        </p:nvSpPr>
        <p:spPr>
          <a:xfrm>
            <a:off x="8613648" y="2148840"/>
            <a:ext cx="1691640" cy="310896"/>
          </a:xfrm>
          <a:prstGeom prst="roundRect">
            <a:avLst>
              <a:gd name="adj" fmla="val 50000"/>
            </a:avLst>
          </a:prstGeom>
          <a:solidFill>
            <a:srgbClr val="1E3E6B"/>
          </a:solidFill>
          <a:ln w="12700">
            <a:solidFill>
              <a:srgbClr val="333333"/>
            </a:solidFill>
            <a:prstDash val="solid"/>
          </a:ln>
        </p:spPr>
      </p:sp>
      <p:sp>
        <p:nvSpPr>
          <p:cNvPr id="19" name="Text 17"/>
          <p:cNvSpPr/>
          <p:nvPr/>
        </p:nvSpPr>
        <p:spPr>
          <a:xfrm>
            <a:off x="8613648" y="2148840"/>
            <a:ext cx="16916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Meiryo" pitchFamily="34" charset="0"/>
                <a:ea typeface="Meiryo" pitchFamily="34" charset="-122"/>
                <a:cs typeface="Meiryo" pitchFamily="34" charset="-120"/>
              </a:rPr>
              <a:t>連鎖を生む</a:t>
            </a:r>
            <a:endParaRPr lang="en-US" sz="950" dirty="0"/>
          </a:p>
        </p:txBody>
      </p:sp>
      <p:sp>
        <p:nvSpPr>
          <p:cNvPr id="20" name="Text 18"/>
          <p:cNvSpPr/>
          <p:nvPr/>
        </p:nvSpPr>
        <p:spPr>
          <a:xfrm>
            <a:off x="8613648" y="2606040"/>
            <a:ext cx="2980944" cy="914400"/>
          </a:xfrm>
          <a:prstGeom prst="rect">
            <a:avLst/>
          </a:prstGeom>
          <a:noFill/>
          <a:ln/>
        </p:spPr>
        <p:txBody>
          <a:bodyPr wrap="square" lIns="0" tIns="0" rIns="0" bIns="0" rtlCol="0" anchor="t"/>
          <a:lstStyle/>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「名指し」の</a:t>
            </a:r>
            <a:endParaRPr lang="en-US" sz="2000" dirty="0"/>
          </a:p>
          <a:p>
            <a:pPr indent="0" marL="0">
              <a:lnSpc>
                <a:spcPts val="2700"/>
              </a:lnSpc>
              <a:buNone/>
            </a:pPr>
            <a:r>
              <a:rPr lang="en-US" sz="2000" b="1" dirty="0">
                <a:solidFill>
                  <a:srgbClr val="132A4A"/>
                </a:solidFill>
                <a:latin typeface="Meiryo" pitchFamily="34" charset="0"/>
                <a:ea typeface="Meiryo" pitchFamily="34" charset="-122"/>
                <a:cs typeface="Meiryo" pitchFamily="34" charset="-120"/>
              </a:rPr>
              <a:t>巻き込み</a:t>
            </a:r>
            <a:endParaRPr lang="en-US" sz="2000" dirty="0"/>
          </a:p>
        </p:txBody>
      </p:sp>
      <p:sp>
        <p:nvSpPr>
          <p:cNvPr id="21" name="Text 19"/>
          <p:cNvSpPr/>
          <p:nvPr/>
        </p:nvSpPr>
        <p:spPr>
          <a:xfrm>
            <a:off x="8613648" y="3566160"/>
            <a:ext cx="2980944" cy="274320"/>
          </a:xfrm>
          <a:prstGeom prst="rect">
            <a:avLst/>
          </a:prstGeom>
          <a:noFill/>
          <a:ln/>
        </p:spPr>
        <p:txBody>
          <a:bodyPr wrap="square" lIns="0" tIns="0" rIns="0" bIns="0" rtlCol="0" anchor="ctr"/>
          <a:lstStyle/>
          <a:p>
            <a:pPr indent="0" marL="0">
              <a:buNone/>
            </a:pPr>
            <a:r>
              <a:rPr lang="en-US" sz="1100" b="1" dirty="0">
                <a:solidFill>
                  <a:srgbClr val="E2703A"/>
                </a:solidFill>
                <a:latin typeface="Meiryo" pitchFamily="34" charset="0"/>
                <a:ea typeface="Meiryo" pitchFamily="34" charset="-122"/>
                <a:cs typeface="Meiryo" pitchFamily="34" charset="-120"/>
              </a:rPr>
              <a:t>信頼ベースの個別声かけ</a:t>
            </a:r>
            <a:endParaRPr lang="en-US" sz="1100" dirty="0"/>
          </a:p>
        </p:txBody>
      </p:sp>
      <p:sp>
        <p:nvSpPr>
          <p:cNvPr id="22" name="Text 20"/>
          <p:cNvSpPr/>
          <p:nvPr/>
        </p:nvSpPr>
        <p:spPr>
          <a:xfrm>
            <a:off x="8613648" y="3886200"/>
            <a:ext cx="2980944" cy="1371600"/>
          </a:xfrm>
          <a:prstGeom prst="rect">
            <a:avLst/>
          </a:prstGeom>
          <a:noFill/>
          <a:ln/>
        </p:spPr>
        <p:txBody>
          <a:bodyPr wrap="square" lIns="0" tIns="0" rIns="0" bIns="0" rtlCol="0" anchor="t"/>
          <a:lstStyle/>
          <a:p>
            <a:pPr indent="0" marL="0">
              <a:lnSpc>
                <a:spcPts val="1800"/>
              </a:lnSpc>
              <a:buNone/>
            </a:pPr>
            <a:r>
              <a:rPr lang="en-US" sz="1150" dirty="0">
                <a:solidFill>
                  <a:srgbClr val="1F2933"/>
                </a:solidFill>
                <a:latin typeface="Meiryo" pitchFamily="34" charset="0"/>
                <a:ea typeface="Meiryo" pitchFamily="34" charset="-122"/>
                <a:cs typeface="Meiryo" pitchFamily="34" charset="-120"/>
              </a:rPr>
              <a:t>熱量の高い参加者を集める最強の手法は、信頼関係に基づく個別の声かけ。「あなたにこそ来てほしい」と直接伝え、「はい、喜んで」と応じてもらう連鎖を生み、コアな参加者を着実に獲得する。</a:t>
            </a:r>
            <a:endParaRPr lang="en-US" sz="1150" dirty="0"/>
          </a:p>
        </p:txBody>
      </p:sp>
      <p:sp>
        <p:nvSpPr>
          <p:cNvPr id="23" name="Text 21"/>
          <p:cNvSpPr/>
          <p:nvPr/>
        </p:nvSpPr>
        <p:spPr>
          <a:xfrm>
            <a:off x="11155680" y="6291072"/>
            <a:ext cx="548640" cy="320040"/>
          </a:xfrm>
          <a:prstGeom prst="rect">
            <a:avLst/>
          </a:prstGeom>
          <a:noFill/>
          <a:ln/>
        </p:spPr>
        <p:txBody>
          <a:bodyPr wrap="square" lIns="0" tIns="0" rIns="0" bIns="0" rtlCol="0" anchor="ctr"/>
          <a:lstStyle/>
          <a:p>
            <a:pPr algn="r" indent="0" marL="0">
              <a:buNone/>
            </a:pPr>
            <a:r>
              <a:rPr lang="en-US" sz="1000" dirty="0">
                <a:solidFill>
                  <a:srgbClr val="667384"/>
                </a:solidFill>
                <a:latin typeface="Meiryo" pitchFamily="34" charset="0"/>
                <a:ea typeface="Meiryo" pitchFamily="34" charset="-122"/>
                <a:cs typeface="Meiryo" pitchFamily="34" charset="-120"/>
              </a:rPr>
              <a:t>17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CLS別府 第2回 企画立案</dc:title>
  <dc:subject>PptxGenJS Presentation</dc:subject>
  <dc:creator>CLS別府 運営</dc:creator>
  <cp:lastModifiedBy>CLS別府 運営</cp:lastModifiedBy>
  <cp:revision>1</cp:revision>
  <dcterms:created xsi:type="dcterms:W3CDTF">2026-08-15T23:36:57Z</dcterms:created>
  <dcterms:modified xsi:type="dcterms:W3CDTF">2026-08-15T23:36:57Z</dcterms:modified>
</cp:coreProperties>
</file>